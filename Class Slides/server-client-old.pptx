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0"/>
    <p:restoredTop sz="94647"/>
  </p:normalViewPr>
  <p:slideViewPr>
    <p:cSldViewPr snapToGrid="0">
      <p:cViewPr>
        <p:scale>
          <a:sx n="140" d="100"/>
          <a:sy n="140" d="100"/>
        </p:scale>
        <p:origin x="568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41A79-1FF3-1930-0AA4-28C488D166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B105D-C316-10DA-E9FB-A34CEE282B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04F3F-42CA-92E1-2CF3-B1C4C0F7A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5A26F-6983-5E44-B4E0-A8FFD4B1D6A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BC474-8059-D75F-FBBD-D391032C1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6306C-D67C-9692-89C9-07D858E05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15F74-539A-8F4F-875E-C19D8EC24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757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13F96-59C8-00A2-D722-0148B03D8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FF7B3-06F1-D0F3-84E5-9F51E36EF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4F2E7-CD50-8391-044A-9F30803CD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5A26F-6983-5E44-B4E0-A8FFD4B1D6A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FB1E8-3C88-74AE-251A-474E29E7B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B3D3E-3380-7B51-E24B-9C1EC1CD3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15F74-539A-8F4F-875E-C19D8EC24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216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50669-DD71-7C6D-F0D3-A17998D50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025E8-ACDC-0B4F-E630-E04232C6B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375DB-4F5C-1C29-78D0-B6563E464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5A26F-6983-5E44-B4E0-A8FFD4B1D6A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D1FAC-4D21-6953-B6CC-4C82517EA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C7D26-34C7-786F-DD44-E58179D8C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15F74-539A-8F4F-875E-C19D8EC24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246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CFE82-C04B-DC0B-4E18-F90CD1438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6F913-9259-F517-57B2-EC689AF735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32DD68-1495-FEB2-85F9-7F4535919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A50BA-3E8A-D036-D82C-3E377177A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5A26F-6983-5E44-B4E0-A8FFD4B1D6A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59C53-F34E-B3DF-EC9C-B217B68FE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DA5706-C43E-E287-D0E6-8E81CDE27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15F74-539A-8F4F-875E-C19D8EC24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041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B5435-CE6E-6FBB-4D36-CB8F2D1DC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0ECCE-947C-6357-1401-171C772B7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9978B4-56E6-8805-61B9-3FF68F102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537E0C-A892-910E-23AB-48719E8888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9D68B1-7354-1C10-764E-D2AEF4EF86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4D6970-EB0E-6946-12A4-FEB3B3AD6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5A26F-6983-5E44-B4E0-A8FFD4B1D6A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1110D2-55E8-6EAC-0EC5-89A98FA28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F55CCD-0F61-F5AF-38BA-FF48BB4F4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15F74-539A-8F4F-875E-C19D8EC24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665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C000A-F460-4E33-7CDB-F69CD5533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F6C0AD-8062-1028-EE0B-DEC1A47CC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5A26F-6983-5E44-B4E0-A8FFD4B1D6A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E4C879-6064-B678-D0C8-F4B64A2AB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338DB9-CEE0-4F60-14B5-006F1D685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15F74-539A-8F4F-875E-C19D8EC24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744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01B5AD-D7F8-D31C-2953-36EF8B455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5A26F-6983-5E44-B4E0-A8FFD4B1D6A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192BD9-C683-5597-3FE1-7D19D66E3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B429B-A1F3-66B3-D09C-AA5877611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15F74-539A-8F4F-875E-C19D8EC24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76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C8E91-1064-BFDF-461A-6F161D7D9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6517D-90E7-E94D-56CA-F55E4DA8A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F42D86-A022-3222-DB3E-486F4FBE9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6A3A74-8558-D812-798A-FBDD2F5C0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5A26F-6983-5E44-B4E0-A8FFD4B1D6A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EA1DDD-B00D-BD15-5214-8BBD06478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116B8F-AF55-A235-0603-758E50B30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15F74-539A-8F4F-875E-C19D8EC24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35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34E57-0F4F-F8A7-242B-6F917D017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F9C273-5D31-9342-315B-12EF83130C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4010DF-090B-7E62-9E8C-9BDD9BC44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A0AB06-3F54-721E-AED0-A9BADCD70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5A26F-6983-5E44-B4E0-A8FFD4B1D6A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00B62-218C-E756-679F-BD93D68C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0649F-AA71-3B4B-268A-F54B8A8D2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15F74-539A-8F4F-875E-C19D8EC24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280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A1591-D357-B6CF-0BF5-5F869390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F50D35-2D0F-F965-5806-9DC527337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C8E60-0575-C468-89A0-08A0F464F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5A26F-6983-5E44-B4E0-A8FFD4B1D6A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1D855-CD73-5412-CDBB-2B0B58EDE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5F75A-144B-1665-8B6D-5C915EBE0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15F74-539A-8F4F-875E-C19D8EC24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146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D48270-25AF-AB57-DD2E-8B11727C67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2ED826-33AB-1FAD-5CB7-D73FC7C95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A034F-C257-E41A-459A-72BC13171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5A26F-6983-5E44-B4E0-A8FFD4B1D6A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CDB44-3CB7-3A16-D7E9-2E857E8CB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A44B4-744C-ECB5-A800-425F67596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15F74-539A-8F4F-875E-C19D8EC24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923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8B209F-207D-1E58-E6AD-EC2A31F64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50C83-E099-8731-06B4-683666F01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1CFC7-EB25-1A5A-5D0C-FE06A2BC3F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C5A26F-6983-5E44-B4E0-A8FFD4B1D6A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04449-D3F0-D32F-C4F0-BE729D15F3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EC598-EC77-F68C-7A41-EF80038F7B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115F74-539A-8F4F-875E-C19D8EC24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35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2FA18-0222-84EA-2546-4D8D0608E6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HCDD 411: Client-Server Architecture</a:t>
            </a:r>
            <a:br>
              <a:rPr lang="en-US" sz="4800" b="1" dirty="0"/>
            </a:b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0B36DC-EEDD-D4CF-4E87-6BE388C903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1529" y="3200386"/>
            <a:ext cx="8044441" cy="756317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Md Touhidul Islam</a:t>
            </a:r>
          </a:p>
          <a:p>
            <a:endParaRPr lang="en-US" sz="32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784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8C819-A4F8-401B-6DBF-883BF9B34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Today's Goals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AE9C5-73C4-7DAF-00F3-F56698374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 How modern systems are built</a:t>
            </a:r>
          </a:p>
          <a:p>
            <a:r>
              <a:rPr lang="en-US" dirty="0"/>
              <a:t>Understand the client-server model</a:t>
            </a:r>
          </a:p>
          <a:p>
            <a:r>
              <a:rPr lang="en-US" dirty="0"/>
              <a:t>Explore each component one by one</a:t>
            </a:r>
          </a:p>
          <a:p>
            <a:r>
              <a:rPr lang="en-US" dirty="0"/>
              <a:t>See how everything works together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923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24DE9-D5FC-8D51-10E3-56DDBC81C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Evolution of Computing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F6AB0-01B8-930F-1E14-FD8308076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1970s - 1980s</a:t>
            </a:r>
            <a:r>
              <a:rPr lang="en-US" dirty="0"/>
              <a:t>: Standalone Computers</a:t>
            </a:r>
          </a:p>
          <a:p>
            <a:endParaRPr lang="en-US" b="1" dirty="0"/>
          </a:p>
          <a:p>
            <a:endParaRPr lang="en-US" b="1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 descr="A computer with a keyboard&#10;&#10;AI-generated content may be incorrect.">
            <a:extLst>
              <a:ext uri="{FF2B5EF4-FFF2-40B4-BE49-F238E27FC236}">
                <a16:creationId xmlns:a16="http://schemas.microsoft.com/office/drawing/2014/main" id="{155F282C-FD8D-AB97-1244-126BF6532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2325" y="2707709"/>
            <a:ext cx="3327675" cy="28477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3AD0F5A-9924-2F61-A738-5BC808036C50}"/>
              </a:ext>
            </a:extLst>
          </p:cNvPr>
          <p:cNvSpPr txBox="1"/>
          <p:nvPr/>
        </p:nvSpPr>
        <p:spPr>
          <a:xfrm>
            <a:off x="3419793" y="5690368"/>
            <a:ext cx="5352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Everything stored locally. No sharing. No internet.</a:t>
            </a:r>
          </a:p>
        </p:txBody>
      </p:sp>
    </p:spTree>
    <p:extLst>
      <p:ext uri="{BB962C8B-B14F-4D97-AF65-F5344CB8AC3E}">
        <p14:creationId xmlns:p14="http://schemas.microsoft.com/office/powerpoint/2010/main" val="2643537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9FA83-5E67-A5C6-A7F8-356DB454A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6D193-AA10-01EA-1FB1-4C128B364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Evolution of Computing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20885-961F-213F-AB0D-04D445E5F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7906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1990s - 2000s: </a:t>
            </a:r>
            <a:r>
              <a:rPr lang="en-US" dirty="0"/>
              <a:t>Networks &amp; The Web Emerges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 descr="A row of laptops with arrows&#10;&#10;AI-generated content may be incorrect.">
            <a:extLst>
              <a:ext uri="{FF2B5EF4-FFF2-40B4-BE49-F238E27FC236}">
                <a16:creationId xmlns:a16="http://schemas.microsoft.com/office/drawing/2014/main" id="{CEE58068-6E7A-42D3-9455-0B40CB9EE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4734" y="2425699"/>
            <a:ext cx="4525379" cy="27395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D98109-DA27-C2AF-976C-4A3DDE1D4304}"/>
              </a:ext>
            </a:extLst>
          </p:cNvPr>
          <p:cNvSpPr txBox="1"/>
          <p:nvPr/>
        </p:nvSpPr>
        <p:spPr>
          <a:xfrm>
            <a:off x="2341966" y="5301600"/>
            <a:ext cx="7374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Computers connected via networks. Early websites. Dial-up internet.</a:t>
            </a:r>
          </a:p>
        </p:txBody>
      </p:sp>
    </p:spTree>
    <p:extLst>
      <p:ext uri="{BB962C8B-B14F-4D97-AF65-F5344CB8AC3E}">
        <p14:creationId xmlns:p14="http://schemas.microsoft.com/office/powerpoint/2010/main" val="2768583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9AE8D-337F-B861-5671-81B06F827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B31A3-0499-D1F6-1DD2-4A0D09F13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Evolution of Computing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7121C-64C5-65CF-3320-E19A9006D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Today: </a:t>
            </a:r>
            <a:r>
              <a:rPr lang="en-US" dirty="0"/>
              <a:t>Distributed Systems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1" name="Picture 10" descr="A computer icons on a purple background&#10;&#10;AI-generated content may be incorrect.">
            <a:extLst>
              <a:ext uri="{FF2B5EF4-FFF2-40B4-BE49-F238E27FC236}">
                <a16:creationId xmlns:a16="http://schemas.microsoft.com/office/drawing/2014/main" id="{977C9EBD-AAFA-B691-E54B-BCD523202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868" y="2722495"/>
            <a:ext cx="5207000" cy="2032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7C2577-9912-6BF8-1F71-F203D317B9BA}"/>
              </a:ext>
            </a:extLst>
          </p:cNvPr>
          <p:cNvSpPr txBox="1"/>
          <p:nvPr/>
        </p:nvSpPr>
        <p:spPr>
          <a:xfrm>
            <a:off x="1304862" y="4889432"/>
            <a:ext cx="8588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Modern applications don't run on a single computer. They're </a:t>
            </a:r>
            <a:r>
              <a:rPr lang="en-US" b="1" dirty="0"/>
              <a:t>distributed</a:t>
            </a:r>
            <a:r>
              <a:rPr lang="en-US" dirty="0"/>
              <a:t> across many computers, each with a specific role. This is called a </a:t>
            </a:r>
            <a:r>
              <a:rPr lang="en-US" b="1" dirty="0"/>
              <a:t>distributed system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F2F71-6980-8490-09EC-6C443C76F912}"/>
              </a:ext>
            </a:extLst>
          </p:cNvPr>
          <p:cNvSpPr txBox="1"/>
          <p:nvPr/>
        </p:nvSpPr>
        <p:spPr>
          <a:xfrm>
            <a:off x="7665578" y="1631292"/>
            <a:ext cx="4178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This is what we will study in HCDD 411</a:t>
            </a:r>
          </a:p>
        </p:txBody>
      </p:sp>
    </p:spTree>
    <p:extLst>
      <p:ext uri="{BB962C8B-B14F-4D97-AF65-F5344CB8AC3E}">
        <p14:creationId xmlns:p14="http://schemas.microsoft.com/office/powerpoint/2010/main" val="3625910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FB3D-38CF-FA6F-AAE6-BFFD41738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Client-Server 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8633E-1F92-3F1F-9967-2FE523EE2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most common way to organize a distributed system is the </a:t>
            </a:r>
            <a:r>
              <a:rPr lang="en-US" b="1" dirty="0"/>
              <a:t>client-server architecture</a:t>
            </a:r>
          </a:p>
          <a:p>
            <a:endParaRPr lang="en-US" b="1" dirty="0"/>
          </a:p>
          <a:p>
            <a:r>
              <a:rPr lang="en-US" dirty="0"/>
              <a:t>It divides responsibilities into two main roles:</a:t>
            </a:r>
          </a:p>
          <a:p>
            <a:pPr lvl="1"/>
            <a:r>
              <a:rPr lang="en-US" dirty="0"/>
              <a:t>Client</a:t>
            </a:r>
          </a:p>
          <a:p>
            <a:pPr lvl="1"/>
            <a:r>
              <a:rPr lang="en-US" dirty="0"/>
              <a:t>Server</a:t>
            </a:r>
          </a:p>
        </p:txBody>
      </p:sp>
    </p:spTree>
    <p:extLst>
      <p:ext uri="{BB962C8B-B14F-4D97-AF65-F5344CB8AC3E}">
        <p14:creationId xmlns:p14="http://schemas.microsoft.com/office/powerpoint/2010/main" val="1106855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D9AA4-E780-3EDA-C848-45A1002B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592" y="264541"/>
            <a:ext cx="10515600" cy="1061339"/>
          </a:xfrm>
        </p:spPr>
        <p:txBody>
          <a:bodyPr/>
          <a:lstStyle/>
          <a:p>
            <a:r>
              <a:rPr lang="en-US" b="1" dirty="0"/>
              <a:t>The Client-Server Model</a:t>
            </a:r>
            <a:endParaRPr lang="en-US" dirty="0"/>
          </a:p>
        </p:txBody>
      </p:sp>
      <p:pic>
        <p:nvPicPr>
          <p:cNvPr id="5" name="Content Placeholder 4" descr="A blue rectangle with white text&#10;&#10;AI-generated content may be incorrect.">
            <a:extLst>
              <a:ext uri="{FF2B5EF4-FFF2-40B4-BE49-F238E27FC236}">
                <a16:creationId xmlns:a16="http://schemas.microsoft.com/office/drawing/2014/main" id="{A3CD6436-2B83-8F21-B605-DB9D8CC663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2520" y="1325880"/>
            <a:ext cx="8501743" cy="253605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4A4486-F0E9-1951-5B26-4753534DFC3B}"/>
              </a:ext>
            </a:extLst>
          </p:cNvPr>
          <p:cNvSpPr txBox="1"/>
          <p:nvPr/>
        </p:nvSpPr>
        <p:spPr>
          <a:xfrm>
            <a:off x="1771976" y="4100959"/>
            <a:ext cx="24891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You (The Client):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Look at the menu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Order your food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Wait to receive it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Enjoy your meal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88498C-7C4A-6AC6-E369-6CAD7D389D00}"/>
              </a:ext>
            </a:extLst>
          </p:cNvPr>
          <p:cNvSpPr txBox="1"/>
          <p:nvPr/>
        </p:nvSpPr>
        <p:spPr>
          <a:xfrm>
            <a:off x="6935288" y="4100959"/>
            <a:ext cx="2830504" cy="1991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Kitchen (The Server):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Has all the ingredients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Receives your order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Prepares the food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Sends it back to you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A3827C-4EA3-631E-D768-1F15730E1F3F}"/>
              </a:ext>
            </a:extLst>
          </p:cNvPr>
          <p:cNvSpPr txBox="1"/>
          <p:nvPr/>
        </p:nvSpPr>
        <p:spPr>
          <a:xfrm>
            <a:off x="2684308" y="6331362"/>
            <a:ext cx="5827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client </a:t>
            </a:r>
            <a:r>
              <a:rPr lang="en-US" b="1" dirty="0">
                <a:solidFill>
                  <a:srgbClr val="FF0000"/>
                </a:solidFill>
              </a:rPr>
              <a:t>requests</a:t>
            </a:r>
            <a:r>
              <a:rPr lang="en-US" dirty="0">
                <a:solidFill>
                  <a:srgbClr val="FF0000"/>
                </a:solidFill>
              </a:rPr>
              <a:t>, the server </a:t>
            </a:r>
            <a:r>
              <a:rPr lang="en-US" b="1" dirty="0">
                <a:solidFill>
                  <a:srgbClr val="FF0000"/>
                </a:solidFill>
              </a:rPr>
              <a:t>responds</a:t>
            </a:r>
            <a:r>
              <a:rPr lang="en-US" dirty="0">
                <a:solidFill>
                  <a:srgbClr val="FF0000"/>
                </a:solidFill>
              </a:rPr>
              <a:t>. Simple as that!</a:t>
            </a:r>
          </a:p>
        </p:txBody>
      </p:sp>
    </p:spTree>
    <p:extLst>
      <p:ext uri="{BB962C8B-B14F-4D97-AF65-F5344CB8AC3E}">
        <p14:creationId xmlns:p14="http://schemas.microsoft.com/office/powerpoint/2010/main" val="1499827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68050-2C73-F7FB-BBA0-9900B4E25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Three Essential Components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2F79F-EB21-11E5-A3C2-AAB81592C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No matter how complex an application is, it always has these 3 parts:</a:t>
            </a:r>
          </a:p>
        </p:txBody>
      </p:sp>
      <p:pic>
        <p:nvPicPr>
          <p:cNvPr id="7" name="Picture 6" descr="A blue square with a black rectangular object with a black rectangular object with white text&#10;&#10;AI-generated content may be incorrect.">
            <a:extLst>
              <a:ext uri="{FF2B5EF4-FFF2-40B4-BE49-F238E27FC236}">
                <a16:creationId xmlns:a16="http://schemas.microsoft.com/office/drawing/2014/main" id="{8A4F4E32-8399-BA47-AB54-12CFC53F4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408" y="2532839"/>
            <a:ext cx="1878584" cy="1792322"/>
          </a:xfrm>
          <a:prstGeom prst="rect">
            <a:avLst/>
          </a:prstGeom>
        </p:spPr>
      </p:pic>
      <p:pic>
        <p:nvPicPr>
          <p:cNvPr id="9" name="Picture 8" descr="A pink square with a globe and white text&#10;&#10;AI-generated content may be incorrect.">
            <a:extLst>
              <a:ext uri="{FF2B5EF4-FFF2-40B4-BE49-F238E27FC236}">
                <a16:creationId xmlns:a16="http://schemas.microsoft.com/office/drawing/2014/main" id="{5CF9327F-A020-B7C3-9FAA-8D1A07582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7080" y="2532839"/>
            <a:ext cx="1878584" cy="1791433"/>
          </a:xfrm>
          <a:prstGeom prst="rect">
            <a:avLst/>
          </a:prstGeom>
        </p:spPr>
      </p:pic>
      <p:pic>
        <p:nvPicPr>
          <p:cNvPr id="11" name="Picture 10" descr="A computer monitor on a blue background&#10;&#10;AI-generated content may be incorrect.">
            <a:extLst>
              <a:ext uri="{FF2B5EF4-FFF2-40B4-BE49-F238E27FC236}">
                <a16:creationId xmlns:a16="http://schemas.microsoft.com/office/drawing/2014/main" id="{3BB0E8E8-B0CD-CF71-8E1F-422A55390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276" y="2532839"/>
            <a:ext cx="2149348" cy="1816975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39506D9-515E-B99B-A10D-80C1C749007F}"/>
              </a:ext>
            </a:extLst>
          </p:cNvPr>
          <p:cNvCxnSpPr>
            <a:cxnSpLocks/>
          </p:cNvCxnSpPr>
          <p:nvPr/>
        </p:nvCxnSpPr>
        <p:spPr>
          <a:xfrm>
            <a:off x="3621024" y="3428555"/>
            <a:ext cx="768096" cy="0"/>
          </a:xfrm>
          <a:prstGeom prst="straightConnector1">
            <a:avLst/>
          </a:prstGeom>
          <a:ln w="38100">
            <a:solidFill>
              <a:srgbClr val="0070C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D2B3A54-CEEB-2CF1-C0D4-C95EEDF530F2}"/>
              </a:ext>
            </a:extLst>
          </p:cNvPr>
          <p:cNvCxnSpPr>
            <a:cxnSpLocks/>
          </p:cNvCxnSpPr>
          <p:nvPr/>
        </p:nvCxnSpPr>
        <p:spPr>
          <a:xfrm>
            <a:off x="6544056" y="3428555"/>
            <a:ext cx="768096" cy="0"/>
          </a:xfrm>
          <a:prstGeom prst="straightConnector1">
            <a:avLst/>
          </a:prstGeom>
          <a:ln w="38100">
            <a:solidFill>
              <a:srgbClr val="0070C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7C7B144-4FAA-B853-B206-878E57F3C199}"/>
              </a:ext>
            </a:extLst>
          </p:cNvPr>
          <p:cNvSpPr txBox="1"/>
          <p:nvPr/>
        </p:nvSpPr>
        <p:spPr>
          <a:xfrm>
            <a:off x="1852168" y="4597728"/>
            <a:ext cx="8828024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accent5">
                    <a:lumMod val="75000"/>
                  </a:schemeClr>
                </a:solidFill>
              </a:rPr>
              <a:t>Real Example: Checking Instagram</a:t>
            </a:r>
            <a:endParaRPr lang="en-US" sz="26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/>
              <a:t>Client:</a:t>
            </a:r>
            <a:r>
              <a:rPr lang="en-US" sz="2100" dirty="0"/>
              <a:t> Instagram app on your phone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/>
              <a:t>Network:</a:t>
            </a:r>
            <a:r>
              <a:rPr lang="en-US" sz="2100" dirty="0"/>
              <a:t> WIFI or cellular data connection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/>
              <a:t>Server:</a:t>
            </a:r>
            <a:r>
              <a:rPr lang="en-US" sz="2100" dirty="0"/>
              <a:t> Instagram's computers storing all the photos and user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090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4A508-E614-C5E3-47CD-11831E4C8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Component 1: The Client (Front-End)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CDDE9-A2E3-3E41-4ACC-6E842F285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Users See and Touch</a:t>
            </a:r>
          </a:p>
          <a:p>
            <a:endParaRPr lang="en-US" dirty="0"/>
          </a:p>
        </p:txBody>
      </p:sp>
      <p:pic>
        <p:nvPicPr>
          <p:cNvPr id="5" name="Picture 4" descr="A computer and a tablet&#10;&#10;AI-generated content may be incorrect.">
            <a:extLst>
              <a:ext uri="{FF2B5EF4-FFF2-40B4-BE49-F238E27FC236}">
                <a16:creationId xmlns:a16="http://schemas.microsoft.com/office/drawing/2014/main" id="{AE074DA0-2994-774F-5A7A-2DE96A133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695" y="2717729"/>
            <a:ext cx="4216401" cy="1651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345984-2528-8ACE-06EB-66431A556BC4}"/>
              </a:ext>
            </a:extLst>
          </p:cNvPr>
          <p:cNvSpPr txBox="1"/>
          <p:nvPr/>
        </p:nvSpPr>
        <p:spPr>
          <a:xfrm>
            <a:off x="6096000" y="3429000"/>
            <a:ext cx="5833872" cy="254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What Does the Client Do?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Displays</a:t>
            </a:r>
            <a:r>
              <a:rPr lang="en-US" dirty="0"/>
              <a:t> information to users (text, images, videos)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Accepts</a:t>
            </a:r>
            <a:r>
              <a:rPr lang="en-US" dirty="0"/>
              <a:t> user input (clicks, typing, touches)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Sends requests</a:t>
            </a:r>
            <a:r>
              <a:rPr lang="en-US" dirty="0"/>
              <a:t> to the server when it needs 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Receives responses</a:t>
            </a:r>
            <a:r>
              <a:rPr lang="en-US" dirty="0"/>
              <a:t> from the server and shows them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964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31CDA-BDF6-EE81-4CE2-E8B852623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892F9-5609-DAA0-D12C-2D0BB72A7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Component 1: The Client (Front-End)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B98394-39A9-C9C3-5CB3-89D1CC78B6CA}"/>
              </a:ext>
            </a:extLst>
          </p:cNvPr>
          <p:cNvSpPr txBox="1"/>
          <p:nvPr/>
        </p:nvSpPr>
        <p:spPr>
          <a:xfrm>
            <a:off x="838200" y="2330093"/>
            <a:ext cx="5105400" cy="254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Examples of Clients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Web browsers (Chrome, Safari, Firefox)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Mobile apps (Instagram, Gmail, Twitter)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Desktop applications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Smart TV apps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F6E05B-347F-A97E-FAC7-B1F27882B1DA}"/>
              </a:ext>
            </a:extLst>
          </p:cNvPr>
          <p:cNvSpPr txBox="1"/>
          <p:nvPr/>
        </p:nvSpPr>
        <p:spPr>
          <a:xfrm>
            <a:off x="6577584" y="2355898"/>
            <a:ext cx="5105400" cy="2129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Technologies We'll Learn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HTML:</a:t>
            </a:r>
            <a:r>
              <a:rPr lang="en-US" dirty="0"/>
              <a:t> Structure of web pages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CSS:</a:t>
            </a:r>
            <a:r>
              <a:rPr lang="en-US" dirty="0"/>
              <a:t> Styling and layout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JavaScript:</a:t>
            </a:r>
            <a:r>
              <a:rPr lang="en-US" dirty="0"/>
              <a:t> Interactivity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React:</a:t>
            </a:r>
            <a:r>
              <a:rPr lang="en-US" dirty="0"/>
              <a:t> Building modern interfaces</a:t>
            </a:r>
          </a:p>
        </p:txBody>
      </p:sp>
    </p:spTree>
    <p:extLst>
      <p:ext uri="{BB962C8B-B14F-4D97-AF65-F5344CB8AC3E}">
        <p14:creationId xmlns:p14="http://schemas.microsoft.com/office/powerpoint/2010/main" val="3201700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E28E6-0FB9-F601-7D12-7FE28180F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Component 2: The Network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D6FC5-3F5E-244B-716A-CB3C23CA0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Highway for Data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group of satellite dishes&#10;&#10;AI-generated content may be incorrect.">
            <a:extLst>
              <a:ext uri="{FF2B5EF4-FFF2-40B4-BE49-F238E27FC236}">
                <a16:creationId xmlns:a16="http://schemas.microsoft.com/office/drawing/2014/main" id="{4B25B8F2-8870-1B05-37B8-AEF38C557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614" y="1485138"/>
            <a:ext cx="7037578" cy="15734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C33E95-136B-66E8-086D-18C8D1CF8199}"/>
              </a:ext>
            </a:extLst>
          </p:cNvPr>
          <p:cNvSpPr txBox="1"/>
          <p:nvPr/>
        </p:nvSpPr>
        <p:spPr>
          <a:xfrm>
            <a:off x="472440" y="3813048"/>
            <a:ext cx="5833872" cy="2129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What Does the Network Do?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Transmits</a:t>
            </a:r>
            <a:r>
              <a:rPr lang="en-US" dirty="0"/>
              <a:t> requests from client to server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Carries</a:t>
            </a:r>
            <a:r>
              <a:rPr lang="en-US" dirty="0"/>
              <a:t> responses from server back to client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Uses protocols</a:t>
            </a:r>
            <a:r>
              <a:rPr lang="en-US" dirty="0"/>
              <a:t> (rules) to ensure data arrives correctly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Handles</a:t>
            </a:r>
            <a:r>
              <a:rPr lang="en-US" dirty="0"/>
              <a:t> millions of messages simultaneously</a:t>
            </a:r>
          </a:p>
        </p:txBody>
      </p:sp>
      <p:pic>
        <p:nvPicPr>
          <p:cNvPr id="8" name="Picture 7" descr="A diagram of a wifi connection&#10;&#10;AI-generated content may be incorrect.">
            <a:extLst>
              <a:ext uri="{FF2B5EF4-FFF2-40B4-BE49-F238E27FC236}">
                <a16:creationId xmlns:a16="http://schemas.microsoft.com/office/drawing/2014/main" id="{EBC2317E-8566-8388-8672-A436E5DA4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6312" y="4073587"/>
            <a:ext cx="5718048" cy="1574687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91BFD6A-70CC-A09A-7BA8-2FF395287DD4}"/>
              </a:ext>
            </a:extLst>
          </p:cNvPr>
          <p:cNvCxnSpPr/>
          <p:nvPr/>
        </p:nvCxnSpPr>
        <p:spPr>
          <a:xfrm>
            <a:off x="472440" y="3493008"/>
            <a:ext cx="11350752" cy="0"/>
          </a:xfrm>
          <a:prstGeom prst="line">
            <a:avLst/>
          </a:prstGeom>
          <a:ln w="317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9105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C5DBF-65C2-1BBD-58E8-ACBE5E835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Protocol: HTTP/HTTPS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0333E-E7FB-A6CA-FC25-46F7D9707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Just like humans speak different languages (English, Spanish, French), computers use </a:t>
            </a:r>
            <a:r>
              <a:rPr lang="en-US" sz="2400" b="1" dirty="0"/>
              <a:t>protocols</a:t>
            </a:r>
            <a:r>
              <a:rPr lang="en-US" sz="2400" dirty="0"/>
              <a:t> to communicate.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HTTP</a:t>
            </a:r>
            <a:r>
              <a:rPr lang="en-US" sz="2400" dirty="0"/>
              <a:t> (HyperText Transfer Protocol) is the language of the web. It defines: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How to format requests and responses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What different types of requests mean (GET, POST, etc.)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How to handle errors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98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DF6E1-0646-E85E-5267-1790AC31F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8EED4-5D00-CF87-07A2-2702858CE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086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35</TotalTime>
  <Words>470</Words>
  <Application>Microsoft Macintosh PowerPoint</Application>
  <PresentationFormat>Widescreen</PresentationFormat>
  <Paragraphs>78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HCDD 411: Client-Server Architecture </vt:lpstr>
      <vt:lpstr>Today's Goals</vt:lpstr>
      <vt:lpstr>Evolution of Computing</vt:lpstr>
      <vt:lpstr>Evolution of Computing</vt:lpstr>
      <vt:lpstr>Evolution of Computing</vt:lpstr>
      <vt:lpstr>The Client-Server Model</vt:lpstr>
      <vt:lpstr>The Client-Server Model</vt:lpstr>
      <vt:lpstr>Three Essential Components</vt:lpstr>
      <vt:lpstr>Component 1: The Client (Front-End)</vt:lpstr>
      <vt:lpstr>Component 1: The Client (Front-End)</vt:lpstr>
      <vt:lpstr>Component 2: The Network</vt:lpstr>
      <vt:lpstr>The Protocol: HTTP/HTTPS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Islam, Md Touhidul</dc:creator>
  <cp:lastModifiedBy>Islam, Md Touhidul</cp:lastModifiedBy>
  <cp:revision>1</cp:revision>
  <dcterms:created xsi:type="dcterms:W3CDTF">2026-01-12T08:35:37Z</dcterms:created>
  <dcterms:modified xsi:type="dcterms:W3CDTF">2026-01-12T09:11:15Z</dcterms:modified>
</cp:coreProperties>
</file>