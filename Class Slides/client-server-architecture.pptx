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7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92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432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sources (original instructional content).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HCDD 411: Client-Server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 Touhidul Islam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1002975" cy="3017520"/>
          </a:xfrm>
          <a:prstGeom prst="round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Goals: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971800"/>
            <a:ext cx="10180015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how modern systems are built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the client-server model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each component one by one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how everything works together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4538" y="9144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Picture: Evolution of Computing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694944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949968"/>
            <a:ext cx="11002975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54991" y="999308"/>
            <a:ext cx="42350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1970s–1980s: Standalone Computers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935102" y="1462032"/>
            <a:ext cx="292608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35102" y="151689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D374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044062" y="1561664"/>
            <a:ext cx="4166729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stored locally. No sharing. No internet.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67248" y="218497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2625240"/>
            <a:ext cx="11002975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0AE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89832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1990s–2000s: Networks &amp; The Web Emerges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24752" y="3137304"/>
            <a:ext cx="2926080" cy="56692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56384" y="3192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2D3748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💻 ↔️ 💻 ↔️ 💻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33712" y="3242460"/>
            <a:ext cx="551011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Computers connected via networks. Early websites. Dial-up internet.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67248" y="384331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594360" y="4300512"/>
            <a:ext cx="11002975" cy="123444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465104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Today: Distributed Systems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4399" y="4812576"/>
            <a:ext cx="4888090" cy="566928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6663" y="4867440"/>
            <a:ext cx="50461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 💻 🖥️ ↔️ ☁️ ↔️ 🗄️🗄️🗄️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861182" y="4890420"/>
            <a:ext cx="5515751" cy="35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Systems split across many computers, working together seamlessly.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5823720"/>
            <a:ext cx="11002975" cy="689968"/>
          </a:xfrm>
          <a:prstGeom prst="round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841094"/>
            <a:ext cx="10545775" cy="6217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Insight: Modern applications do not run on a single computer. They are distributed across many computers, each with a specific role. This is called a distributed system.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15544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Client-Server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59" y="667512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59" y="814730"/>
            <a:ext cx="11002975" cy="666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common way to organize a distributed system is the </a:t>
            </a:r>
            <a:r>
              <a:rPr lang="en-US" sz="17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client-server architecture</a:t>
            </a:r>
            <a:r>
              <a:rPr lang="en-US" sz="17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divides responsibilities into </a:t>
            </a:r>
            <a:r>
              <a:rPr lang="en-US" sz="17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</a:t>
            </a:r>
            <a:r>
              <a:rPr lang="en-US" sz="17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roles: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49961" y="1647051"/>
            <a:ext cx="4206240" cy="246888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32841" y="181164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9961" y="2122539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178561" y="3027795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Requester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1" y="3302115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device: phone, laptop, browser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11896" y="2442579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6504923" y="1647051"/>
            <a:ext cx="4206240" cy="246888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87803" y="1811643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4923" y="2122539"/>
            <a:ext cx="4206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733523" y="3027795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Provider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24963" y="3302115"/>
            <a:ext cx="356616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Powerful computer storing data and running services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434839"/>
            <a:ext cx="9796763" cy="1932093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3436" y="4544118"/>
            <a:ext cx="938768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Analogy: Restaurant 🍽️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7835" y="4916198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(The Client):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38" y="5235560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 at the menu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your food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to receive it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your meal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87803" y="4902315"/>
            <a:ext cx="486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Kitchen (The Server):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781647" y="5233980"/>
            <a:ext cx="48614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Has all the ingredients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your order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Prepares the food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it back to you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Essential Components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39515" y="820453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matter how complex an application is, it always has these three parts: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917417"/>
            <a:ext cx="11002975" cy="2103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191736"/>
            <a:ext cx="2834640" cy="1708573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  <a:effectLst>
            <a:outerShdw blurRad="76200" dist="25400" dir="27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51560" y="2356329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667225"/>
            <a:ext cx="2834640" cy="652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3356683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3631003"/>
            <a:ext cx="2194560" cy="45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users see and interact with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04488" y="2694657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678528" y="2191737"/>
            <a:ext cx="2834640" cy="1554480"/>
          </a:xfrm>
          <a:prstGeom prst="round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blurRad="635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8528" y="235632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78528" y="2694657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4907128" y="330730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pathway for communication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14336" y="2694657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488375" y="2191737"/>
            <a:ext cx="2834640" cy="155448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F2FE"/>
            </a:solidFill>
            <a:prstDash val="solid"/>
          </a:ln>
          <a:effectLst>
            <a:outerShdw blurRad="6350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88375" y="2356329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88375" y="2694657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716975" y="330730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data and logic live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" y="4502572"/>
            <a:ext cx="11002975" cy="141732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65802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Example: Checking Instagram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4987204"/>
            <a:ext cx="101800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Client: Instagram app on your phone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Network: WiFi or cellular data connection</a:t>
            </a:r>
            <a:endParaRPr lang="en-US" sz="14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Server: Instagram's computers storing photos and user data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27432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1: The Client (Front-End)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59" y="923544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512" y="1116704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Users See and Touch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1490472"/>
            <a:ext cx="11002975" cy="11612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56641"/>
            <a:ext cx="11002975" cy="5836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   💻   🖥️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291076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= Any Device You Use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94360" y="2879224"/>
            <a:ext cx="11002975" cy="1593431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016385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Client Do?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363857"/>
            <a:ext cx="1018001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Displays information to users (text, images, videos)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user input (clicks, typing, touches)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requests to the server when it needs data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responses from the server and shows them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66256"/>
            <a:ext cx="5341468" cy="1920240"/>
          </a:xfrm>
          <a:prstGeom prst="roundRect">
            <a:avLst/>
          </a:prstGeom>
          <a:solidFill>
            <a:srgbClr val="FEF3E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821704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 of Clients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123456"/>
            <a:ext cx="47928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browsers (Chrome, Safari, Firefox)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apps (Instagram, Gmail)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Desktop applications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TV apps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5868" y="4666256"/>
            <a:ext cx="5341468" cy="1920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84468" y="4821704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Front-End Technologies We'll Learn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75908" y="5123456"/>
            <a:ext cx="479282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Structure of web pages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CSS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Styling and layout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Interactivity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Building modern interfaces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3560" y="146304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2: The Network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777240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Highway for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1476026"/>
            <a:ext cx="11002975" cy="1051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13186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   🛜   📡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116106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57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Network = The Connection Between Client and Server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913096"/>
            <a:ext cx="11002975" cy="1512483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050257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Network Do?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397729"/>
            <a:ext cx="101800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Transmits requests from client to server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Carries responses from server back to client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protocols (rules) to ensure data arrives correctly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millions of messages simultaneously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4894860"/>
            <a:ext cx="11002975" cy="11430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5022876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65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Protocol: HTTP/HTTPS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9404" y="5244814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Computers use protocols (rules) to communicate.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defines how to format requests and responses, what methods mean (GET, POST), and how to handle errors.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169164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Component 3: The Server (Back-End)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59" y="736092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4359" y="98755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Brain and Memory of the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4360" y="1413938"/>
            <a:ext cx="11002975" cy="105156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1098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   🗄️   ⚙️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94360" y="2054018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A7B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= Where Everything Important Happens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11002975" cy="1805656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Server Do?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73552"/>
            <a:ext cx="10180015" cy="11701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Stores all your data (photos, messages, accounts)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Processes requests (searches, calculations, updates)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business logic (e.g., “you must be logged in”)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back responses to clients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many users at the same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914616"/>
            <a:ext cx="5341468" cy="1417320"/>
          </a:xfrm>
          <a:prstGeom prst="roundRect">
            <a:avLst/>
          </a:prstGeom>
          <a:solidFill>
            <a:srgbClr val="FEF3E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5070064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Components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5371816"/>
            <a:ext cx="47928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Server: Handles incoming requests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Logic: Processes data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Database: Stores information permanently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55868" y="4914616"/>
            <a:ext cx="5341468" cy="14173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84468" y="5070064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Technologies We'll Learn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75908" y="5371816"/>
            <a:ext cx="47928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Runs JavaScript on the server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Framework for building web servers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</a:t>
            </a: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Database for storing data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178308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All Works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59" y="801014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59" y="968905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watch what happens when you check social media...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26159" y="1547846"/>
            <a:ext cx="9483798" cy="426242"/>
          </a:xfrm>
          <a:prstGeom prst="roundRect">
            <a:avLst/>
          </a:prstGeom>
          <a:solidFill>
            <a:srgbClr val="E6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26159" y="1590772"/>
            <a:ext cx="2247620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1: User Action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73779" y="1637523"/>
            <a:ext cx="4573131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open Instagram and pull to refresh your feed (CLIENT).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77464" y="2048494"/>
            <a:ext cx="365760" cy="2029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26158" y="2317951"/>
            <a:ext cx="9483799" cy="450086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6159" y="2357289"/>
            <a:ext cx="2891086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2: Client Sends Request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006425" y="2408259"/>
            <a:ext cx="5735886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creates a message: “Give me the latest posts” (NETWORK via HTTP).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77464" y="2831198"/>
            <a:ext cx="365760" cy="1751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6158" y="3028702"/>
            <a:ext cx="9483799" cy="448056"/>
          </a:xfrm>
          <a:prstGeom prst="roundRect">
            <a:avLst/>
          </a:prstGeom>
          <a:solidFill>
            <a:srgbClr val="FFE6F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26159" y="3084298"/>
            <a:ext cx="2479042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Request Travels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7783" y="3154571"/>
            <a:ext cx="5888286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 travels through WiFi → Internet → Instagram’s servers (milliseconds).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77464" y="3545338"/>
            <a:ext cx="365760" cy="1711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26158" y="3785112"/>
            <a:ext cx="9483799" cy="484632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26158" y="3877284"/>
            <a:ext cx="2479043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Server Processes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05201" y="3949704"/>
            <a:ext cx="6881709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authenticates you, finds followed accounts, queries the database, and formats results.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77464" y="4327417"/>
            <a:ext cx="365760" cy="193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26158" y="4537121"/>
            <a:ext cx="9483799" cy="448056"/>
          </a:xfrm>
          <a:prstGeom prst="roundRect">
            <a:avLst/>
          </a:prstGeom>
          <a:solidFill>
            <a:srgbClr val="F3E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26159" y="4594747"/>
            <a:ext cx="3212820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33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Server Sends Response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43713" y="4677043"/>
            <a:ext cx="4539264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packages posts and sends them back (NETWORK).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7464" y="5031911"/>
            <a:ext cx="365760" cy="1930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026158" y="5271684"/>
            <a:ext cx="9483799" cy="448056"/>
          </a:xfrm>
          <a:prstGeom prst="roundRect">
            <a:avLst/>
          </a:prstGeom>
          <a:solidFill>
            <a:srgbClr val="E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26159" y="5318136"/>
            <a:ext cx="2371798" cy="237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6: Client Displays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05201" y="5413416"/>
            <a:ext cx="4708598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receives data and renders the UI on your screen (CLIENT).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59" y="6080421"/>
            <a:ext cx="10344576" cy="411480"/>
          </a:xfrm>
          <a:prstGeom prst="round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58" y="6154487"/>
            <a:ext cx="10545775" cy="26334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entire cycle often happens in under a second, and repeats every time you interact with a web application.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Concepts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3718408" y="3657600"/>
            <a:ext cx="4754880" cy="109728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575" y="173736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 vs Dynamic Content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7575" y="760876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28133" y="1134532"/>
            <a:ext cx="5006463" cy="508846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54113" y="1323846"/>
            <a:ext cx="2330024" cy="4572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45552" y="1323846"/>
            <a:ext cx="223858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Static Content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44036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 Fixed content that never changes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A company “About Us” page</a:t>
            </a:r>
            <a:endParaRPr lang="en-US" sz="1250" b="1" dirty="0"/>
          </a:p>
        </p:txBody>
      </p:sp>
      <p:sp>
        <p:nvSpPr>
          <p:cNvPr id="8" name="Shape 6"/>
          <p:cNvSpPr/>
          <p:nvPr/>
        </p:nvSpPr>
        <p:spPr>
          <a:xfrm>
            <a:off x="868680" y="2951479"/>
            <a:ext cx="4769968" cy="1325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9830" y="2980712"/>
            <a:ext cx="4495648" cy="1291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Our Company:</a:t>
            </a:r>
            <a:endParaRPr lang="en-US" sz="1200" i="1" dirty="0"/>
          </a:p>
          <a:p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 were founded in 2010.</a:t>
            </a:r>
            <a:endParaRPr lang="en-US" sz="1200" dirty="0"/>
          </a:p>
          <a:p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 make fax machines.</a:t>
            </a:r>
            <a:endParaRPr lang="en-US" sz="1200" dirty="0"/>
          </a:p>
          <a:p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Our office is in New York.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52670" y="4601970"/>
            <a:ext cx="486233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text is written directly in HTML and doesn't change unless a developer updates it.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42815" y="5362786"/>
            <a:ext cx="3677920" cy="580815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79975" y="5527378"/>
            <a:ext cx="354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Uses: Simple websites, documentation, blogs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49278" y="1134532"/>
            <a:ext cx="5114589" cy="508846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06213" y="1291672"/>
            <a:ext cx="2580792" cy="482598"/>
          </a:xfrm>
          <a:prstGeom prst="roundRect">
            <a:avLst/>
          </a:prstGeom>
          <a:solidFill>
            <a:srgbClr val="FEF3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06213" y="1291672"/>
            <a:ext cx="2580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Dynamic Content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44580" y="2206925"/>
            <a:ext cx="476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is: Content that changes based on data or user actions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A personalized social media feed</a:t>
            </a:r>
            <a:endParaRPr lang="en-US" sz="1250" b="1" dirty="0"/>
          </a:p>
        </p:txBody>
      </p:sp>
      <p:sp>
        <p:nvSpPr>
          <p:cNvPr id="17" name="Shape 15"/>
          <p:cNvSpPr/>
          <p:nvPr/>
        </p:nvSpPr>
        <p:spPr>
          <a:xfrm>
            <a:off x="6544580" y="2968411"/>
            <a:ext cx="4769968" cy="1325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81740" y="3151291"/>
            <a:ext cx="44956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back, Sarah!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You have 5 new messages.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Today is Sunday, January 11, 2026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Current temperature: 72°F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282875" y="4601970"/>
            <a:ext cx="3418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1809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fields change based on data from the server.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22009" y="5362786"/>
            <a:ext cx="3715325" cy="543901"/>
          </a:xfrm>
          <a:prstGeom prst="roundRect">
            <a:avLst/>
          </a:prstGeom>
          <a:solidFill>
            <a:srgbClr val="FEF3E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22009" y="5350532"/>
            <a:ext cx="3808459" cy="5561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Uses: Social media, email, shopping, dashboards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9456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Databases: The Memory of Your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777240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33272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application needs to remember things. That’s where databases come in.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819657"/>
            <a:ext cx="11002975" cy="1517904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15669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Gets Stored in a Database?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1531" y="2272285"/>
            <a:ext cx="5272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accounts and profiles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Posts, photos, videos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Messages and comments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catalogs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74419" y="2272285"/>
            <a:ext cx="527288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history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and preferences</a:t>
            </a:r>
            <a:endParaRPr lang="en-US" sz="13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that must persist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640673"/>
            <a:ext cx="11002975" cy="256489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777833"/>
            <a:ext cx="105457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Viewing Your Social Media Posts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189313"/>
            <a:ext cx="5227168" cy="457200"/>
          </a:xfrm>
          <a:prstGeom prst="roundRect">
            <a:avLst/>
          </a:prstGeom>
          <a:solidFill>
            <a:srgbClr val="E6F3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4299041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 request: Click “My Profile” → client sends request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41568" y="4189313"/>
            <a:ext cx="5227168" cy="457200"/>
          </a:xfrm>
          <a:prstGeom prst="roundRect">
            <a:avLst/>
          </a:prstGeom>
          <a:solidFill>
            <a:srgbClr val="FFF3E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78728" y="4299041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Server receives: Server: “Show posts for user Sarah123”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811105"/>
            <a:ext cx="5227168" cy="457200"/>
          </a:xfrm>
          <a:prstGeom prst="roundRect">
            <a:avLst/>
          </a:prstGeom>
          <a:solidFill>
            <a:srgbClr val="E6FFE6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920833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Query database: Database: “Find all posts where user = Sarah123”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41568" y="4811105"/>
            <a:ext cx="5227168" cy="457200"/>
          </a:xfrm>
          <a:prstGeom prst="roundRect">
            <a:avLst/>
          </a:prstGeom>
          <a:solidFill>
            <a:srgbClr val="FFE6F3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78728" y="4920833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Return results: Database returns posts (photos, captions, dates)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432897"/>
            <a:ext cx="5227168" cy="457200"/>
          </a:xfrm>
          <a:prstGeom prst="roundRect">
            <a:avLst/>
          </a:prstGeom>
          <a:solidFill>
            <a:srgbClr val="F3E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0120" y="5542625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Format response: Server orders newest → oldest and packages data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41568" y="5432897"/>
            <a:ext cx="5227168" cy="457200"/>
          </a:xfrm>
          <a:prstGeom prst="roundRect">
            <a:avLst/>
          </a:prstGeom>
          <a:solidFill>
            <a:srgbClr val="E6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78728" y="5542625"/>
            <a:ext cx="495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Render UI: Client displays posts on screen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Sophisticated User Interfaces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501987"/>
            <a:ext cx="5341468" cy="2194560"/>
          </a:xfrm>
          <a:prstGeom prst="roundRect">
            <a:avLst/>
          </a:prstGeom>
          <a:solidFill>
            <a:srgbClr val="FEF3E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84867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Traditional: HTML + JavaScript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096347"/>
            <a:ext cx="47928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HTML for structure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JavaScript to update parts of the page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Manually keep everything in sync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55868" y="1501987"/>
            <a:ext cx="5341468" cy="219456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84468" y="1684867"/>
            <a:ext cx="48842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Modern: React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75908" y="2096347"/>
            <a:ext cx="47928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the UI should look like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automatically updates everything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manual synchronization bugs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326467"/>
            <a:ext cx="11002975" cy="914400"/>
          </a:xfrm>
          <a:prstGeom prst="round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4454483"/>
            <a:ext cx="10545775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React? In real apps, the same data may appear in many places. React helps keep all views consistent when the data changes.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53786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an Application Programming Interface (API)?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748146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985890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API is like a menu — it tells you what you can request and how to request it.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525383"/>
            <a:ext cx="11002975" cy="96012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11003"/>
            <a:ext cx="110029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   🔌   🤝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118081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= The Contract Between Client and Server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55671"/>
            <a:ext cx="11002975" cy="1620980"/>
          </a:xfrm>
          <a:prstGeom prst="roundRect">
            <a:avLst/>
          </a:prstGeom>
          <a:solidFill>
            <a:srgbClr val="EDF2F7"/>
          </a:solidFill>
          <a:ln w="254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892831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an API Do?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185439"/>
            <a:ext cx="10180015" cy="1103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Defines what requests the server can handle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Specifies how to format requests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Describes what responses you will get back</a:t>
            </a:r>
            <a:endParaRPr lang="en-US" sz="13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complex server code behind a simple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688378"/>
            <a:ext cx="5341468" cy="1481328"/>
          </a:xfrm>
          <a:prstGeom prst="roundRect">
            <a:avLst/>
          </a:prstGeom>
          <a:solidFill>
            <a:srgbClr val="FEF3E7"/>
          </a:solidFill>
          <a:ln w="254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4852970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Menu Analogy 🍽️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5163866"/>
            <a:ext cx="4792828" cy="8711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(API): Burger, Pizza, Salad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 not need to know how it is cooked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just need to know what to order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55868" y="4688378"/>
            <a:ext cx="5341468" cy="1453896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84468" y="4852970"/>
            <a:ext cx="48842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API Example 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75908" y="5163866"/>
            <a:ext cx="4792828" cy="8902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Weather API: get weather by city</a:t>
            </a:r>
            <a:endParaRPr lang="en-US" sz="1250" b="1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 not need database details</a:t>
            </a:r>
            <a:endParaRPr lang="en-US" sz="125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just call a URL and parse the response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59" y="144225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59" y="720297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59" y="926451"/>
            <a:ext cx="110029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standard for calling APIs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1575149"/>
            <a:ext cx="11002975" cy="3561803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763808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Example: Blog Posts API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119432"/>
            <a:ext cx="10545775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78408" y="2220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/api/posts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38304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Get a list of all blog posts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695504"/>
            <a:ext cx="10545775" cy="502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8408" y="27960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/api/posts/42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814376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Get post with ID 42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271576"/>
            <a:ext cx="10545775" cy="502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78408" y="3372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/api/posts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90448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Create a new blog post (send title/content/author)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3847648"/>
            <a:ext cx="10545775" cy="502920"/>
          </a:xfrm>
          <a:prstGeom prst="roundRect">
            <a:avLst/>
          </a:prstGeom>
          <a:solidFill>
            <a:srgbClr val="FEF3E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78408" y="3948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/api/posts/42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966520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Update post 42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423720"/>
            <a:ext cx="10545775" cy="50292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78408" y="45243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/api/posts/42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4542592"/>
            <a:ext cx="64309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Delete post 42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5486394"/>
            <a:ext cx="11002975" cy="731521"/>
          </a:xfrm>
          <a:prstGeom prst="roundRect">
            <a:avLst/>
          </a:prstGeom>
          <a:solidFill>
            <a:srgbClr val="FEF5E7"/>
          </a:solidFill>
          <a:ln w="254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2960" y="5576921"/>
            <a:ext cx="10545775" cy="5647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REST matters: Consistent patterns make APIs predictable. If you understand one REST API, you can often infer how others work.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D374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Putting It All Together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4754880" cy="73152"/>
          </a:xfrm>
          <a:prstGeom prst="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1002975" cy="4617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2971800" cy="3886200"/>
          </a:xfrm>
          <a:prstGeom prst="roundRect">
            <a:avLst/>
          </a:prstGeom>
          <a:solidFill>
            <a:srgbClr val="667EEA"/>
          </a:solidFill>
          <a:ln w="12700">
            <a:solidFill>
              <a:srgbClr val="667E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1143000" y="2958662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React: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09948" y="1783080"/>
            <a:ext cx="2971800" cy="3886200"/>
          </a:xfrm>
          <a:prstGeom prst="round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09948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09948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838548" y="402336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API: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 Requests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38548" y="39319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05495" y="1783080"/>
            <a:ext cx="2971800" cy="3886200"/>
          </a:xfrm>
          <a:prstGeom prst="roundRect">
            <a:avLst/>
          </a:prstGeom>
          <a:solidFill>
            <a:srgbClr val="00B050"/>
          </a:solidFill>
          <a:ln w="12700">
            <a:solidFill>
              <a:srgbClr val="00F2F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305495" y="196596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05495" y="23317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🖥️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534095" y="3176620"/>
            <a:ext cx="2514600" cy="20345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</a:t>
            </a:r>
          </a:p>
          <a:p>
            <a:pPr algn="ctr"/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Framework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MongoDB: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042334" y="34518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737881" y="34518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667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⟷</a:t>
            </a:r>
            <a:endParaRPr lang="en-US" sz="34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D0240FC9-D70D-7C32-8B79-ADB5714DC0AA}"/>
              </a:ext>
            </a:extLst>
          </p:cNvPr>
          <p:cNvSpPr/>
          <p:nvPr/>
        </p:nvSpPr>
        <p:spPr>
          <a:xfrm>
            <a:off x="1143000" y="4042804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/ CSS / JS: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 &amp; Style</a:t>
            </a:r>
            <a:endParaRPr lang="en-US" sz="1600" dirty="0"/>
          </a:p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43FD2422-EE8D-D748-D689-F3AEA8BD4EE7}"/>
              </a:ext>
            </a:extLst>
          </p:cNvPr>
          <p:cNvSpPr/>
          <p:nvPr/>
        </p:nvSpPr>
        <p:spPr>
          <a:xfrm>
            <a:off x="4903241" y="2926080"/>
            <a:ext cx="2514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/ HTTPS: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Communication Protocol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2" grpId="0" animBg="1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1688</Words>
  <Application>Microsoft Macintosh PowerPoint</Application>
  <PresentationFormat>Widescreen</PresentationFormat>
  <Paragraphs>265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Segoe UI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HCDD 411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HCDD 411: Client-Server Architecture</dc:title>
  <dc:subject>Client-Server Architecture</dc:subject>
  <dc:creator>Md Touhidul Islam</dc:creator>
  <cp:lastModifiedBy>Islam, Md Touhidul</cp:lastModifiedBy>
  <cp:revision>10</cp:revision>
  <dcterms:created xsi:type="dcterms:W3CDTF">2026-01-12T08:51:24Z</dcterms:created>
  <dcterms:modified xsi:type="dcterms:W3CDTF">2026-01-13T00:03:41Z</dcterms:modified>
</cp:coreProperties>
</file>