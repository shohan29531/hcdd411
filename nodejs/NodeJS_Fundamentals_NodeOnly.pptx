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17" r:id="rId23"/>
    <p:sldId id="318" r:id="rId24"/>
    <p:sldId id="319" r:id="rId25"/>
    <p:sldId id="316" r:id="rId26"/>
    <p:sldId id="320" r:id="rId27"/>
    <p:sldId id="321" r:id="rId28"/>
    <p:sldId id="322" r:id="rId29"/>
    <p:sldId id="277" r:id="rId30"/>
    <p:sldId id="278" r:id="rId31"/>
    <p:sldId id="323" r:id="rId32"/>
    <p:sldId id="279" r:id="rId33"/>
    <p:sldId id="280" r:id="rId34"/>
    <p:sldId id="281" r:id="rId35"/>
    <p:sldId id="282" r:id="rId36"/>
    <p:sldId id="324" r:id="rId37"/>
    <p:sldId id="283" r:id="rId38"/>
    <p:sldId id="284" r:id="rId39"/>
    <p:sldId id="285" r:id="rId40"/>
    <p:sldId id="286" r:id="rId41"/>
    <p:sldId id="326" r:id="rId42"/>
    <p:sldId id="287" r:id="rId43"/>
    <p:sldId id="288" r:id="rId44"/>
    <p:sldId id="290" r:id="rId45"/>
    <p:sldId id="327" r:id="rId46"/>
    <p:sldId id="289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87"/>
    <p:restoredTop sz="86424"/>
  </p:normalViewPr>
  <p:slideViewPr>
    <p:cSldViewPr snapToGrid="0" snapToObjects="1">
      <p:cViewPr varScale="1">
        <p:scale>
          <a:sx n="137" d="100"/>
          <a:sy n="137" d="100"/>
        </p:scale>
        <p:origin x="1088" y="192"/>
      </p:cViewPr>
      <p:guideLst/>
    </p:cSldViewPr>
  </p:slideViewPr>
  <p:outlineViewPr>
    <p:cViewPr>
      <p:scale>
        <a:sx n="33" d="100"/>
        <a:sy n="33" d="100"/>
      </p:scale>
      <p:origin x="0" y="-38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7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logo (Wikimedia Commons): https://commons.wikimedia.org/wiki/File:Node.js_logo.svg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definition: https://nodejs.org/en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VS Code icon: https://code.visualstudio.com/brand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VS Code download: https://code.visualstudio.com/download
- VS Code setup overview: https://code.visualstudio.com/docs/setup/setup-overview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releases and LTS status: https://nodejs.org/en/about/previous-releases
- Node.js download page: https://nodejs.org/en/download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4DE3-9373-4EF9-91AD-5E95A4EE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B2F06-2E4B-2DFC-B483-1240DD4FA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35578-DF1A-5D80-4413-350C1588C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38C6C-23DD-71F8-4200-2B20CFF83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011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30250-D7FF-6B8E-BEFA-F56A53BD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29AEF-A9D4-2860-8117-8DF517187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34DAB-096A-C3C5-E85C-A1C10A611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F636C-6968-1788-F27F-C98D5B71C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68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DE2C-EEEC-C46E-F9F7-BF73A041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01F4C-6201-9406-B75E-7C9CA1F63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56F4C-A78D-AF21-9A04-8EF2DBAE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045D5-BBEB-E8F8-E9D7-3D192AD61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83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9E358-E6FA-4F8C-EE2E-5C2FB45A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A13B4-55A0-BDEC-6E59-24284C41A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D64D1-3858-B063-517D-5837521AF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506E3-DE3B-637F-AA91-BA6638776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602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FE97-FFC2-D1DE-7475-9D7CBC1F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0A32A-29E6-1709-9028-95B28C05F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A4A2C-7D8C-D89B-F974-5E3FDC687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374E8-4EE0-6872-87E0-B9CB15218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476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6124-0A77-80D3-1D6B-CDD2B6F0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31E20-9306-A36D-862B-04024BBBD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CB83B-AF41-4221-58C1-6B17FA0ED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3B01E-2A89-BC0B-29C4-D76DCFEDD3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100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C49B5-00D0-00A2-7FC7-41A8668D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1782F-8349-4A46-16DF-4B9AC2968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0B328-8C84-4C0F-8536-CF71A86DE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79D46-E4A0-5249-7F58-92F832080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56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0737-F25A-AFC7-AD20-E3F55F92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9AFD8-712E-5C73-F58B-D6F151DFA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0399F-521D-CC43-120C-2C98169DE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1144C-A0C7-989D-94F5-BDB4F68D5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36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C779E-68A8-3489-F099-09ADA157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96B3E-E3BD-AD28-8A01-18C60F5A4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D40D7-E8CF-A5BC-08F0-911E5CDBD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7E332-E4DB-FB6B-D6A2-484C77627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216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D423-8EA3-1957-610D-6565EDE3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A8A46-2F09-06E3-9E35-1014B2E71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2F3E4-F30F-FE8A-7E2A-00473A424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4403E-94C0-F038-8B6C-C6E0A6548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415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B8F3-CA80-9895-686B-FB124BB9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8DFED-81D0-CD72-E047-B293B2F3E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3FAA4-EFAF-EDBD-D7E4-26B66B7E4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2D89A-391E-8C4E-6D88-6FE6A73C5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099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182880"/>
            <a:ext cx="12191695" cy="10972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nod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72" y="1097280"/>
            <a:ext cx="3284376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03722" y="950976"/>
            <a:ext cx="8796533" cy="2587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HCDD 411: 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306364" y="3200400"/>
            <a:ext cx="3101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Touhidul Islam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663440" y="26060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be able to do after learning Node.js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79"/>
            <a:ext cx="11185855" cy="4745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where Node.js sits in a client–server architecture (and why we use it)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Node programs: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2400" b="1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loop, async I/O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2400" b="1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core Node modules (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HTTP API using only Node (before we add Express)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in VS Code, structure projects, and adopt basic best practices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84107" y="2910582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Why Node.js?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1" y="108486"/>
            <a:ext cx="496798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Node.js?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85855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Node.js® is a free, open-source, cross-platform JavaScript runtime environment.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19" y="2420063"/>
            <a:ext cx="11185855" cy="19039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JS runs inside the browser sandbox (DOM, window, user-driven)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runs on your machine / server (file system, network sockets, processes)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as the client → easier full-stack development and shared code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5219982"/>
            <a:ext cx="11185855" cy="118081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distributed systems terms: Node is a convenient platform for writing servers that expose remote services (APIs) and coordinate I/O.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5430" y="91440"/>
            <a:ext cx="11185855" cy="528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Node.js sits in the client–server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377440" cy="111556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+ Fetch/Axios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17372" y="1417320"/>
            <a:ext cx="2377440" cy="111556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HTTP(S) Requests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78333" y="1417320"/>
            <a:ext cx="2377440" cy="1115568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(Node.js)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Business Logic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0275" y="1417320"/>
            <a:ext cx="2377440" cy="1115568"/>
          </a:xfrm>
          <a:prstGeom prst="roundRect">
            <a:avLst/>
          </a:prstGeom>
          <a:solidFill>
            <a:srgbClr val="EDE9FE"/>
          </a:solidFill>
          <a:ln>
            <a:solidFill>
              <a:srgbClr val="A78BF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Cache / Files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71800" y="1825977"/>
            <a:ext cx="433944" cy="305538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5901756" y="1811475"/>
            <a:ext cx="430068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8862704" y="1811475"/>
            <a:ext cx="476589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11185855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sits on the </a:t>
            </a: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</a:t>
            </a: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client–server architecture.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receives HTTP requests, runs business logic, and talks to data stores or other services.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3629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Node.js?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6762"/>
            <a:ext cx="11185855" cy="2591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how to call APIs from the client (fetch/axios/AJAX).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learn how to implement the server that receives those calls.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gives us: networking + files + processes + a huge ecosystem (npm).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build distributed components: API servers, workers, gateways, CLIs.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5257800"/>
            <a:ext cx="111858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Your client code calls “remote methods”. Node is where those remote methods actually run.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Node.js is a great fit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concurrent connections (chat, dashboards, APIs with lots of users)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workloads: DB calls, HTTP calls to other services, file operations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JSON-heavy APIs (web/mobile clients)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iteration + big ecosystem (middleware, auth, validation, etc.)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97959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trade-offs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JS execution: CPU-heavy work blocks the event loop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async coding to avoid “blocking”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can propagate differently in async code (need patterns)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CPU-heavy workloads, use worker threads, child processes, or other 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Node is great for coordinating I/O. Offload heavy computation.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19" y="2765672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Setup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95713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we’ll use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/mnt/data/vscod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143000"/>
            <a:ext cx="998621" cy="9986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97279"/>
            <a:ext cx="9052560" cy="3129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234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5840" y="1508759"/>
            <a:ext cx="8503920" cy="2598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Studio Code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(LTS recommended)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(bundled with Node)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(but useful):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nvm / nvm-windows (manage Node versions)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19" y="5133468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write pure Node code first. Express comes later.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(quick checklist)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the official site and install.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 (LTS) and verify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 from the official download page.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LTS version for stability in coursework.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installing, verify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283383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 something like: v24.x.x (LTS)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where node lives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node    # Windows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node    # macOS/Linux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manage multiple Node versions (nvm)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 (macOS/Linux) / nvm-windows lets you install and switch Node versions.</a:t>
            </a:r>
            <a:endParaRPr lang="en-US" sz="2400" dirty="0"/>
          </a:p>
          <a:p>
            <a:pPr marL="240030" indent="-24003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match project requirements (e.g., “Node 20” vs “Node 24”).</a:t>
            </a:r>
            <a:endParaRPr lang="en-US" sz="2400" dirty="0"/>
          </a:p>
          <a:p>
            <a:pPr marL="240030" indent="-24003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course: pick one LTS and stick to it unless told otherwise.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288634"/>
            <a:ext cx="11185855" cy="32645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macOS/Linux examples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installed versions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ls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and use a version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install --lts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use --lts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19" y="2910582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Running Node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769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Node program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2194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console.log('Hello from Node!’);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console.log('Node version:', process.version);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11185855" cy="1234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it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hello.js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REPL (interactive console)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= Read–Eval–Print Loop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JavaScript expressions and see results immediately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testing small snippets, regex, JSON transforms, etc.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272467"/>
            <a:ext cx="11185855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2 + 2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const x = {a:1}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1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.exit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893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workflow: auto-restart with nodemon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19790"/>
            <a:ext cx="11185855" cy="1758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watches files and restarts your Node process when files change.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servers and scripts while developing.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11185855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as a dev dependency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nodemon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 file with auto-restart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nodemon hello.js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19" y="2895084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Modules + npm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893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package.json: your project manifest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9426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project has a package.json file.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records project info, dependencies, and runnable scripts.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it once with npm init.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304674"/>
            <a:ext cx="11185855" cy="300468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my-node-app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my-node-app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look at package.json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package.json    # macOS/Linux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package.json   # Windows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893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 (run commands consistently)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39"/>
            <a:ext cx="11185855" cy="2709465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(snippet)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"dev": "nodemon 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"node src/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"test": "node --test"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4367374"/>
            <a:ext cx="11185855" cy="1965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Versioning: MAJOR.MINOR.PATCH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bug fix 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backward-compatible feature 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breaking change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0CE7C-ABBE-1EFD-BFA3-B4AA4A00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B71CE1-633F-47A3-9AEC-F695D8600869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A23267-36C7-22DE-B503-9354255CC0BA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CA71D1-BCD7-A505-FD23-DCD4C2B346BC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34B78E-8E97-E7EF-31AA-F21C831DA504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PATCH </a:t>
            </a:r>
            <a:r>
              <a:rPr lang="en-US" sz="2400" dirty="0"/>
              <a:t>(last number): </a:t>
            </a:r>
            <a:r>
              <a:rPr lang="en-US" sz="2400" dirty="0">
                <a:solidFill>
                  <a:srgbClr val="00B050"/>
                </a:solidFill>
              </a:rPr>
              <a:t>bug fix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b="1" dirty="0"/>
              <a:t>2.5.13 → 2.5.14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Fixes bugs, security patches, small internal tweaks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 new features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Should not break existing code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Safe to update most of the time</a:t>
            </a: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endParaRPr lang="en-US" sz="2400" dirty="0">
              <a:solidFill>
                <a:srgbClr val="111827"/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3219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F18F6-CB32-EE8B-B905-07249F69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962E30-F981-4D38-0220-AF461F2D78FE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0307B2-AC3F-B7CF-AFF7-8E2EB3F06B0F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434B3-C61C-40A5-778A-0E015E0A01F0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3725DC-A67D-EE7B-CC43-E69A11013479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/>
              <a:t>MINOR</a:t>
            </a:r>
            <a:r>
              <a:rPr lang="en-US" sz="2400" dirty="0"/>
              <a:t> (middle number): </a:t>
            </a:r>
            <a:r>
              <a:rPr lang="en-US" sz="2400" dirty="0">
                <a:solidFill>
                  <a:schemeClr val="accent2"/>
                </a:solidFill>
              </a:rPr>
              <a:t>backward-compatible feature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b="1" dirty="0"/>
              <a:t>2.5.13 → 2.6.0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Adds new features or improvements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Existing code should still work (backward compatible)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Might add new functions/options, but shouldn’t remove old ones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11827"/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9297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15CB6-E408-7911-5FB6-815832F8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DEB3A0-4ED1-14C7-5233-7E1CB2C2BFC9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B5796E-B6FE-7697-16C8-F9EAB93512B7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EBC6E3-6028-DE92-29CF-56BF1DB2BF2C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62B5BB-0F9B-6C6F-C715-E0AFC614BD05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/>
              <a:t>MAJOR</a:t>
            </a:r>
            <a:r>
              <a:rPr lang="en-US" sz="2400" dirty="0"/>
              <a:t> (first number): </a:t>
            </a:r>
            <a:r>
              <a:rPr lang="en-US" sz="2400" dirty="0">
                <a:solidFill>
                  <a:srgbClr val="FF0000"/>
                </a:solidFill>
              </a:rPr>
              <a:t>breaking change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b="1" dirty="0"/>
              <a:t>2.5.13 → 3.0.0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Something changed that may </a:t>
            </a:r>
            <a:r>
              <a:rPr lang="en-US" sz="2400" b="1" dirty="0"/>
              <a:t>break existing users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of breaking changes: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Renamed/removed 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Changed function parameters or return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Changed default behavior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Changed config format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  <a:buSzPct val="100000"/>
            </a:pPr>
            <a:endParaRPr lang="en-US" sz="2400" dirty="0">
              <a:solidFill>
                <a:srgbClr val="111827"/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2128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B8EBC-D077-F06D-3458-51667874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B93F6C-1BC4-84AA-9E6E-B25B27989774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EA6418-E3DE-26BF-63FB-D218393134D5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7BFE1F-EC91-F5D3-F112-095D317230C6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F3D2CF-24D2-FCA4-9A3E-830F8CAD8C56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package.json: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^1.2.3 → allow compatible MINOR/PATCH updates (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~1.2.3 → allow PATCH updates only (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9817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27F86-D797-53C4-781F-58633250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2C08EF-FD72-C4EF-947D-6C85A3E1D98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A78311-A04D-6B3D-F108-65789F780834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C88973-131C-17B9-ADA0-039F0FF502CE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4514CE-A6E5-CCCF-2656-9F428181DE11}"/>
              </a:ext>
            </a:extLst>
          </p:cNvPr>
          <p:cNvSpPr/>
          <p:nvPr/>
        </p:nvSpPr>
        <p:spPr>
          <a:xfrm>
            <a:off x="502920" y="1097279"/>
            <a:ext cx="11185855" cy="5580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^1.2.3 (caret) = allow MINOR + PATCH updates (within same MAJOR)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Meaning: “Stay on major version </a:t>
            </a:r>
            <a:r>
              <a:rPr lang="en-US" sz="2400" b="1" dirty="0"/>
              <a:t>1</a:t>
            </a:r>
            <a:r>
              <a:rPr lang="en-US" sz="2400" dirty="0"/>
              <a:t>, but you can move forward on minor/patch.”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 </a:t>
            </a:r>
            <a:r>
              <a:rPr lang="en-US" sz="2400" dirty="0" err="1"/>
              <a:t>npm</a:t>
            </a:r>
            <a:r>
              <a:rPr lang="en-US" sz="2400" dirty="0"/>
              <a:t> can install anything in: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&gt;= 1.2.3 and &lt; 2.0.0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1.2.4 ✅ (patch)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1.3.0 ✅ (minor)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1.9.9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NOT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2.0.0 ❌ (major bump)</a:t>
            </a:r>
          </a:p>
        </p:txBody>
      </p:sp>
    </p:spTree>
    <p:extLst>
      <p:ext uri="{BB962C8B-B14F-4D97-AF65-F5344CB8AC3E}">
        <p14:creationId xmlns:p14="http://schemas.microsoft.com/office/powerpoint/2010/main" val="2177734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6506B-DC3D-F5F7-9D88-FFB885F4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ACFEC3-379A-2AB6-1CF1-34970B844BE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EBF8CE-4E70-9E04-DD63-7BC47D98AAF6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121CD-2A30-8AD9-40CC-50B2C89D7F07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47B13F-FA2A-B463-AC47-363B380A4484}"/>
              </a:ext>
            </a:extLst>
          </p:cNvPr>
          <p:cNvSpPr/>
          <p:nvPr/>
        </p:nvSpPr>
        <p:spPr>
          <a:xfrm>
            <a:off x="502920" y="1097279"/>
            <a:ext cx="11185855" cy="4868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~1.2.3 (tilde) = allow PATCH updates only (within same MINOR)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Meaning: “Stay on </a:t>
            </a:r>
            <a:r>
              <a:rPr lang="en-US" sz="2400" b="1" dirty="0"/>
              <a:t>1.2.x</a:t>
            </a:r>
            <a:r>
              <a:rPr lang="en-US" sz="2400" dirty="0"/>
              <a:t>, only take bug fixes.”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 </a:t>
            </a:r>
            <a:r>
              <a:rPr lang="en-US" sz="2400" dirty="0" err="1"/>
              <a:t>npm</a:t>
            </a:r>
            <a:r>
              <a:rPr lang="en-US" sz="2400" dirty="0"/>
              <a:t> can install anything in: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&gt;= 1.2.3 and &lt; 1.3.0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1.2.4 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1.2.99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NOT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1.3.0 ❌ (minor bump)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2.0.0 ❌</a:t>
            </a:r>
          </a:p>
        </p:txBody>
      </p:sp>
    </p:spTree>
    <p:extLst>
      <p:ext uri="{BB962C8B-B14F-4D97-AF65-F5344CB8AC3E}">
        <p14:creationId xmlns:p14="http://schemas.microsoft.com/office/powerpoint/2010/main" val="2077648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A1B42-BE1A-D8F2-DC01-2829A28A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3F47D8-106E-FDDB-C907-553B9BB30D4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26E76D-CCCE-725B-F9B2-8A197F07F3D8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10F61-E6C8-FFDC-D7C1-C10027B01D4B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07CFE8-B091-E9A2-35E0-386F6600C924}"/>
              </a:ext>
            </a:extLst>
          </p:cNvPr>
          <p:cNvSpPr/>
          <p:nvPr/>
        </p:nvSpPr>
        <p:spPr>
          <a:xfrm>
            <a:off x="502920" y="908718"/>
            <a:ext cx="7957499" cy="59492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you run </a:t>
            </a:r>
            <a:r>
              <a:rPr lang="en-US" sz="2400" i="1" dirty="0" err="1"/>
              <a:t>npm</a:t>
            </a:r>
            <a:r>
              <a:rPr lang="en-US" sz="2400" i="1" dirty="0"/>
              <a:t> install</a:t>
            </a:r>
            <a:r>
              <a:rPr lang="en-US" sz="2400" dirty="0"/>
              <a:t>, </a:t>
            </a:r>
            <a:r>
              <a:rPr lang="en-US" sz="2400" dirty="0" err="1"/>
              <a:t>npm</a:t>
            </a:r>
            <a:r>
              <a:rPr lang="en-US" sz="2400" dirty="0"/>
              <a:t> has to choose </a:t>
            </a:r>
            <a:r>
              <a:rPr lang="en-US" sz="2400" b="1" dirty="0"/>
              <a:t>one exact version</a:t>
            </a:r>
            <a:r>
              <a:rPr lang="en-US" sz="2400" dirty="0"/>
              <a:t> of some-lib to put into </a:t>
            </a:r>
            <a:r>
              <a:rPr lang="en-US" sz="2400" dirty="0" err="1"/>
              <a:t>node_modules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~1.2.3 means </a:t>
            </a:r>
            <a:r>
              <a:rPr lang="en-US" sz="2400" dirty="0" err="1"/>
              <a:t>npm</a:t>
            </a:r>
            <a:r>
              <a:rPr lang="en-US" sz="2400" dirty="0"/>
              <a:t> is allowed to pick </a:t>
            </a:r>
            <a:r>
              <a:rPr lang="en-US" sz="2400" b="1" dirty="0"/>
              <a:t>any published version</a:t>
            </a:r>
            <a:r>
              <a:rPr lang="en-US" sz="2400" dirty="0"/>
              <a:t> of some-lib that satisfies:</a:t>
            </a:r>
          </a:p>
          <a:p>
            <a:r>
              <a:rPr lang="en-US" sz="2400" b="1" dirty="0"/>
              <a:t>	&gt;= 1.2.3 and &lt; 1.3.0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So, if the registry has these versions:</a:t>
            </a:r>
          </a:p>
          <a:p>
            <a:r>
              <a:rPr lang="en-US" sz="2400" dirty="0"/>
              <a:t>	1.2.3 or 1.3.0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npm</a:t>
            </a:r>
            <a:r>
              <a:rPr lang="en-US" sz="2400" dirty="0"/>
              <a:t> will usually install the </a:t>
            </a:r>
            <a:r>
              <a:rPr lang="en-US" sz="2400" b="1" dirty="0"/>
              <a:t>latest matching one</a:t>
            </a:r>
            <a:r>
              <a:rPr lang="en-US" sz="2400" dirty="0"/>
              <a:t>, e.g. </a:t>
            </a:r>
            <a:r>
              <a:rPr lang="en-US" sz="2400" b="1" dirty="0"/>
              <a:t>1.2.9</a:t>
            </a:r>
            <a:r>
              <a:rPr lang="en-US" sz="2400" dirty="0"/>
              <a:t>, because it’s: ≥ 1.2.3 ✅ and &lt; 1.3.0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it will </a:t>
            </a:r>
            <a:r>
              <a:rPr lang="en-US" sz="2400" b="1" dirty="0"/>
              <a:t>not</a:t>
            </a:r>
            <a:r>
              <a:rPr lang="en-US" sz="2400" dirty="0"/>
              <a:t> install 1.3.0 because that crosses into the next MINOR.</a:t>
            </a:r>
          </a:p>
          <a:p>
            <a:endParaRPr lang="en-US" sz="2400" i="1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08590FEB-657A-E6E8-5293-D55EFFD33B0A}"/>
              </a:ext>
            </a:extLst>
          </p:cNvPr>
          <p:cNvSpPr/>
          <p:nvPr/>
        </p:nvSpPr>
        <p:spPr>
          <a:xfrm>
            <a:off x="8604002" y="930028"/>
            <a:ext cx="3496253" cy="2596674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"dependencies": {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"some-lib": "~1.2.3"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98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246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CommonJS vs ES Modules (ESM)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5455768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33008" y="1097280"/>
            <a:ext cx="5455768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CommonJS (older, still common)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61607" y="1234440"/>
            <a:ext cx="54557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/ ESM (modern JS standard)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5181448" cy="4526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math.cjs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add };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it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add } = require('./math.cjs');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70168" y="1645920"/>
            <a:ext cx="5181448" cy="4526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math.mjs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add(a, b)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it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} from './math.mjs';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ESM in a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9566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Use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.mjs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 for ESM files.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Add "type": "module" to package.json (then .js is treated as ESM).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 inside one repo to avoid confusion.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502919" y="3429000"/>
            <a:ext cx="11185855" cy="157800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(snippet)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"module"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D0982-34F2-32AE-8D1B-1C659BD4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7ABB91-D834-50A1-F32D-0E487FBCA654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EFE1BB-643A-F8F6-F350-96174BD36BA3}"/>
              </a:ext>
            </a:extLst>
          </p:cNvPr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CJS in a project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AA2960-B2C9-2D89-36A6-F6C5A6674FFE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1433C9-EC86-8242-7DCE-03C3E5B1FB7C}"/>
              </a:ext>
            </a:extLst>
          </p:cNvPr>
          <p:cNvSpPr/>
          <p:nvPr/>
        </p:nvSpPr>
        <p:spPr>
          <a:xfrm>
            <a:off x="502920" y="1097280"/>
            <a:ext cx="11185855" cy="19566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Use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2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cjs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 for ESM files.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Add "type": ”</a:t>
            </a:r>
            <a:r>
              <a:rPr lang="en-US" sz="2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commonjs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to package.json (then .js is treated as CJS).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 inside one repo to avoid confusion.</a:t>
            </a:r>
            <a:endParaRPr lang="en-US" sz="24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F6D6F4-E3D0-F018-8859-4C1DA85BEA51}"/>
              </a:ext>
            </a:extLst>
          </p:cNvPr>
          <p:cNvSpPr/>
          <p:nvPr/>
        </p:nvSpPr>
        <p:spPr>
          <a:xfrm>
            <a:off x="502919" y="3429000"/>
            <a:ext cx="11185855" cy="157800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(snippet)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”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commonjs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4628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9652" y="14470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core modules (built-in, no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needed)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node:fs → file system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node:path → path utilities (cross-platform)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→ HTTP server/client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node:os → OS info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node:process → env, args, exit codes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node:crypto → hashing, encryption (later)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node:stream → streaming I/O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Process + Paths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Arguments, environment variables, and file locations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arguments: process.argv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276148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args.js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console.log(process.argv);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Example: node args.js hello 123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argv[0] = node executable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argv[1] = script path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argv[2...] = your arguments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4434839"/>
            <a:ext cx="11185855" cy="1672997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args.js hello 123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process.env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619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are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(always).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examples: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NODE_ENV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 to Git. Use .env locally, real env vars in production.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849732"/>
            <a:ext cx="11185855" cy="35053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(env vars are strings)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"3000";                 // server port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process.env.DATABASE_URL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"(missing)";      // DB connection string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env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process.env.NODE_ENV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"development";       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dev|production|test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process.env.API_KEY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"(set)" : "(missing)"; // secret token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port,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env, key });                     // prints values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isProd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?", env === "production");            // toggle behavior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type:",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port);                  // always "string"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number:", Number(port));               // convert if needed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D295D-C5E3-8DF8-92F0-11FB273F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E3351B-2729-3869-E43C-E83980E1DE2C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D3FE2D-E6F7-7B3A-1A11-2CDD22D9E2BF}"/>
              </a:ext>
            </a:extLst>
          </p:cNvPr>
          <p:cNvSpPr/>
          <p:nvPr/>
        </p:nvSpPr>
        <p:spPr>
          <a:xfrm>
            <a:off x="502920" y="173736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process.env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5E89A8-452E-D483-B14A-6F9D7D97F702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852FF2-EDBD-51EA-1F04-01DCB022B7A0}"/>
              </a:ext>
            </a:extLst>
          </p:cNvPr>
          <p:cNvSpPr/>
          <p:nvPr/>
        </p:nvSpPr>
        <p:spPr>
          <a:xfrm>
            <a:off x="502920" y="894969"/>
            <a:ext cx="11185855" cy="253403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(env vars are strings)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"3000";                 // server port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process.env.DATABASE_URL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"(missing)";      // DB connection string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env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process.env.NODE_ENV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"development";       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dev|production|test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process.env.API_KEY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"(set)" : "(missing)"; // secret token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port,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env, key });                     // prints values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isProd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?", env === "production");            // toggle behavior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type:",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port);                  // always "string"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number:", Number(port));               // convert if needed</a:t>
            </a:r>
            <a:endParaRPr lang="en-US" sz="16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E573AFD-322E-4D27-2EEE-0C659A272B90}"/>
              </a:ext>
            </a:extLst>
          </p:cNvPr>
          <p:cNvSpPr/>
          <p:nvPr/>
        </p:nvSpPr>
        <p:spPr>
          <a:xfrm>
            <a:off x="502920" y="3622284"/>
            <a:ext cx="4722224" cy="3007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  <a:buSzPct val="100000"/>
            </a:pPr>
            <a:r>
              <a:rPr lang="en-US" sz="2400" dirty="0">
                <a:cs typeface="Courier New" panose="02070309020205020404" pitchFamily="49" charset="0"/>
              </a:rPr>
              <a:t>macOS/Linux: </a:t>
            </a:r>
          </a:p>
          <a:p>
            <a:pPr>
              <a:lnSpc>
                <a:spcPct val="110000"/>
              </a:lnSpc>
              <a:buSzPct val="100000"/>
            </a:pP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PORT=4000 NODE_ENV=development DATABASE_URL="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://user:pass@localhost:5432/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mydb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API_KEY="abc123" node 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env.js</a:t>
            </a: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82E7DDA-767A-E2E0-0BBC-7B08DE189E13}"/>
              </a:ext>
            </a:extLst>
          </p:cNvPr>
          <p:cNvSpPr/>
          <p:nvPr/>
        </p:nvSpPr>
        <p:spPr>
          <a:xfrm>
            <a:off x="6216364" y="3677148"/>
            <a:ext cx="4722224" cy="2163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  <a:buSzPct val="100000"/>
            </a:pPr>
            <a:r>
              <a:rPr lang="en-US" sz="2400" dirty="0">
                <a:cs typeface="Courier New" panose="02070309020205020404" pitchFamily="49" charset="0"/>
              </a:rPr>
              <a:t>Windows: </a:t>
            </a:r>
          </a:p>
          <a:p>
            <a:pPr>
              <a:lnSpc>
                <a:spcPct val="110000"/>
              </a:lnSpc>
              <a:buSzPct val="100000"/>
            </a:pP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env:PORT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="4000"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env:NODE_ENV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="development"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env:DATABASE_URL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://user:pass@localhost:5432/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mydb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env:API_KEY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="abc123"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 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env.js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887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Paths: avoid string concatenation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node:path for portability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\ while macOS/Linux uses /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path.join() builds correct paths for the OS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__dirname (CommonJS) or import.meta.url (ESM) helps locate files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11185855" cy="3566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CommonJS example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path = require('node:path');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console.log(path.join('data', 'users.json'));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ESM example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path from 'node:path';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fileURLToPath } from 'node:url';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__filename = fileURLToPath(import.meta.url);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__dirname = path.dirname(__filename);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console.log(__dirname);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Async + Event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mental model for Node servers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(high-level)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Node can handle many connections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9653" y="1234440"/>
            <a:ext cx="32004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 execution)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69080" y="1234440"/>
            <a:ext cx="356616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(schedules callbacks)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0" y="1234440"/>
            <a:ext cx="347472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(OS, network, fs)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25291" y="1404257"/>
            <a:ext cx="525875" cy="27432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1147" y="1376262"/>
            <a:ext cx="530352" cy="27432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53154" y="1742022"/>
            <a:ext cx="530352" cy="274320"/>
          </a:xfrm>
          <a:prstGeom prst="lef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87967" y="1770017"/>
            <a:ext cx="525875" cy="274320"/>
          </a:xfrm>
          <a:prstGeom prst="lef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2267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/ promises resolved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1118585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runs your JS on a single main thread (call stack).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operations (disk, network) happen asynchronously via the OS.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I/O completes, callbacks/promises are queued and run later.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block the call stack, everything waits (requests stall).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 non-blocking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in a server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example (bad):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536603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bad-blocking-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node:fs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fs.readFileSync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"utf8"); // blocks event loop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("bytes:",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data.length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005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idea (better):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5577840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good-nonblocking-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node:fs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/promises");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"utf8").then((data) =&gt; {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("bytes:",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data.length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8E44D-D6E8-AC0F-011B-795C8B0A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9C2094-9AB3-4F3B-DD85-FD9E46E98B86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1DC806-B004-12DD-59C2-BD954A2EC8C0}"/>
              </a:ext>
            </a:extLst>
          </p:cNvPr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 non-blocking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13090C-088B-D722-A73F-BD5C59C35137}"/>
              </a:ext>
            </a:extLst>
          </p:cNvPr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in a server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AD8AED-7491-AB69-E18B-95A6E94D44F7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DB72CD-BE3F-5FFC-4B95-9F339982A25A}"/>
              </a:ext>
            </a:extLst>
          </p:cNvPr>
          <p:cNvSpPr/>
          <p:nvPr/>
        </p:nvSpPr>
        <p:spPr>
          <a:xfrm>
            <a:off x="502920" y="1005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example (bad):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9B0826-3DC6-C604-318D-2F47D063DC51}"/>
              </a:ext>
            </a:extLst>
          </p:cNvPr>
          <p:cNvSpPr/>
          <p:nvPr/>
        </p:nvSpPr>
        <p:spPr>
          <a:xfrm>
            <a:off x="502920" y="1325880"/>
            <a:ext cx="5496664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bad-blocking-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sleep.js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end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Date.now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+ 2000;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Date.now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&lt; end) {} // blocks everything for 2s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("done");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A841AF-D8CD-2001-A440-5312DF94E17A}"/>
              </a:ext>
            </a:extLst>
          </p:cNvPr>
          <p:cNvSpPr/>
          <p:nvPr/>
        </p:nvSpPr>
        <p:spPr>
          <a:xfrm>
            <a:off x="6400800" y="1005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idea (better):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AFBB33-B842-1380-F72D-D5ED4BAEFD90}"/>
              </a:ext>
            </a:extLst>
          </p:cNvPr>
          <p:cNvSpPr/>
          <p:nvPr/>
        </p:nvSpPr>
        <p:spPr>
          <a:xfrm>
            <a:off x="6400800" y="1325880"/>
            <a:ext cx="5577840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good-nonblocking-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sleep.js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("done"), 2000); // doesn't block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5EAC350-268B-6CF1-0F84-52348EB6F8E8}"/>
              </a:ext>
            </a:extLst>
          </p:cNvPr>
          <p:cNvSpPr/>
          <p:nvPr/>
        </p:nvSpPr>
        <p:spPr>
          <a:xfrm>
            <a:off x="494522" y="4946904"/>
            <a:ext cx="11185855" cy="44619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both “wait 2 seconds”; one freezes the process, the other schedules work and keeps the event loop free.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3310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8095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 #1: callbacks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callback is a function passed to run later when work finishes.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legacy APIs use “error-first callbacks”: (err, result) =&gt; { ... }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nested callbacks can become hard to read (“callback hell”).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883159"/>
            <a:ext cx="11185855" cy="360908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error-first callback example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'node:fs';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fs.readFile('notes.txt', 'utf8', (err, data) =&gt;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console.error('read failed', err);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console.log(data);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608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 #2: Promises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48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represents a future value: pending → fulfilled or rejected.</a:t>
            </a:r>
            <a:endParaRPr lang="en-US" sz="2400" b="1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chain: .then(...) and .catch(...)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compose well: Promise.all, Promise.race, etc.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865430"/>
            <a:ext cx="11185855" cy="321906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 } from 'node:fs/promises';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readFile('notes.txt', 'utf8')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.then((data)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.catch((err)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console.error('read failed', err);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work: Promise.all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multiple I/O calls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85855" cy="2926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fetch("/user/123").then(r =&gt;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fetch("/user/123/posts").then(r =&gt;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[user, posts] = await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Promise.all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11185855" cy="9927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fails fast: if one rejects, the whole thing rejects.</a:t>
            </a:r>
            <a:endParaRPr lang="en-US" sz="2400" dirty="0"/>
          </a:p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independent I/O (fetch multiple resources, read multiple files).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DB933-4129-1EFC-AEB6-C6CBFBE8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CFC2EE-3BCE-FD33-91F4-E1D03D3A8808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2915DE-0984-4281-C4BF-D41478E20EBB}"/>
              </a:ext>
            </a:extLst>
          </p:cNvPr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work: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Promise.race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F7815B-E187-7689-D79C-6241B1D06701}"/>
              </a:ext>
            </a:extLst>
          </p:cNvPr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multiple I/O calls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DFB611-5B6F-EDE8-ACEA-60709CD999B7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A917F3-6E62-785D-CDA9-B2E16A9DBEF6}"/>
              </a:ext>
            </a:extLst>
          </p:cNvPr>
          <p:cNvSpPr/>
          <p:nvPr/>
        </p:nvSpPr>
        <p:spPr>
          <a:xfrm>
            <a:off x="502920" y="1554480"/>
            <a:ext cx="11185855" cy="2926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slow = fetch("/data");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timeout = new Promise((_, reject) =&gt;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reject(new Error("Timed out")), 2000)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Promise.race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([slow, timeout]);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9A6228-2053-DE15-A58E-209995524A42}"/>
              </a:ext>
            </a:extLst>
          </p:cNvPr>
          <p:cNvSpPr/>
          <p:nvPr/>
        </p:nvSpPr>
        <p:spPr>
          <a:xfrm>
            <a:off x="502920" y="4754880"/>
            <a:ext cx="11185855" cy="9927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/>
              <a:t>Use for </a:t>
            </a:r>
            <a:r>
              <a:rPr lang="en-US" sz="2400" b="1" dirty="0"/>
              <a:t>timeouts</a:t>
            </a:r>
            <a:r>
              <a:rPr lang="en-US" sz="2400" dirty="0"/>
              <a:t> or “take the fastest result”.</a:t>
            </a:r>
          </a:p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/>
              <a:t>Settles with the </a:t>
            </a:r>
            <a:r>
              <a:rPr lang="en-US" sz="2400" b="1" dirty="0"/>
              <a:t>first promise to settle</a:t>
            </a:r>
            <a:r>
              <a:rPr lang="en-US" sz="2400" dirty="0"/>
              <a:t> (resolve </a:t>
            </a:r>
            <a:r>
              <a:rPr lang="en-US" sz="2400" i="1" dirty="0"/>
              <a:t>or</a:t>
            </a:r>
            <a:r>
              <a:rPr lang="en-US" sz="2400" dirty="0"/>
              <a:t> reject)</a:t>
            </a:r>
          </a:p>
        </p:txBody>
      </p:sp>
    </p:spTree>
    <p:extLst>
      <p:ext uri="{BB962C8B-B14F-4D97-AF65-F5344CB8AC3E}">
        <p14:creationId xmlns:p14="http://schemas.microsoft.com/office/powerpoint/2010/main" val="2342242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6265" y="18475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 #3: async/await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functions always return a Promise.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pauses inside the async function until the Promise resolves.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try/catch for errors.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789853"/>
            <a:ext cx="11185855" cy="3656667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 } from 'node:fs/promises';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readFile('notes.txt', 'utf8');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console.error('read failed', err);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main();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Files + Streams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 efficiently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files (fs/promises)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readable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2834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readFile, writeFile } from 'node:fs/promises';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 = await readFile('input.txt', 'utf8');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writeFile('output.txt', text.toUpperCase(), 'utf8');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console.log('done');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800600"/>
            <a:ext cx="111858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big files, prefer streams (next slide) to avoid loading everything into memory.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(binary data)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not “text”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is a Node type for raw bytes.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network data, images, compressed files, crypto, etc.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Buffer and string requires an encoding (utf8, base64, hex).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Buffer.from('hello', 'utf8');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console.log(b.toString('hex'));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b2 = Buffer.from('68656c6c6f', 'hex');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console.log(b2.toString('utf8'));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(process data in chunks)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better for large payloads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handle data over time: you don’t need the full file in memory.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→ Writable (pipe), or use pipeline() for safer error handling.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file copy, uploads/downloads, compression, HTTP bodies.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16459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createReadStream, createWriteStream } from 'node:fs';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createReadStream('big.mp4')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.pipe(createWriteStream('copy.mp4'));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48640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pipe() is simple, but pipeline() is usually safer for real apps.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streams: pipeline()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errors and closing for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createReadStream, createWriteStream } from 'node:fs';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pipeline } from 'node:stream/promises';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pipeline(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createReadStream('big.mp4'),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createWriteStream('copy.mp4')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console.log('copied');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1118585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 returns a Promise (nice with async/await).</a:t>
            </a:r>
            <a:endParaRPr lang="en-US" sz="1800" dirty="0"/>
          </a:p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fails, it rejects and cleans up.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+ transform: gzip compression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distributed systems technique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createReadStream, createWriteStream } from 'node:fs';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createGzip } from 'node:zlib';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pipeline } from 'node:stream/promises';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pipeline(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createReadStream('server.log'),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createGzip(),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createWriteStream('server.log.gz')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console.log('compressed');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937760"/>
            <a:ext cx="11185855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saves bandwidth — often a bigger bottleneck than CPU in distributed systems.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HTTP in Node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API server without Express (first!)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HTTP server (node:http)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server-side JavaScript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server.mjs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createServer((req, res)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res.statusCode = 200;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res.setHeader('Content-Type', 'text/plain; charset=utf-8');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res.end('Hello from Node HTTP server!');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server.listen(3000, ()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console.log('Listening on http://localhost:3000');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440680"/>
            <a:ext cx="11185855" cy="1188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http://localhost:3000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(manual): method + URL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will automate this later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createServer((req, res)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req.url === '/health')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res.writeHead(200, { 'Content-Type': 'application/json'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res.end(JSON.stringify({ ok: true }));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res.writeHead(404, { 'Content-Type': 'application/json'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res.end(JSON.stringify({ error: 'Not found' }));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48640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enough for understanding what Express is doing under the hood.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URLs and query strings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URL class (built-in)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createServer((req, res)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new URL(req.url, 'http://localhost');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(url.pathname === '/echo')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msg = url.searchParams.get('msg') ?? '';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res.writeHead(200, { 'Content-Type': 'application/json'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res.end(JSON.stringify({ msg }));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res.writeHead(404).end();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1097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"http://localhost:3000/echo?msg=hello"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JSON request body (POST)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are streams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85855" cy="4572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readJson(req)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Promise((resolve, reject)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'';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req.on('data', (chunk) =&gt; (data += chunk));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req.on('end', 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resolve(JSON.parse(data || '{}'));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reject(e);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req.on('error', reject);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createServer(async (req, res)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'POST' &amp;&amp; req.url === '/items')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body = await readJson(req);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res.writeHead(201, { 'Content-Type': 'application/json'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res.end(JSON.stringify({ created: true, body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res.writeHead(400, { 'Content-Type': 'application/json'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res.end(JSON.stringify({ error: 'Invalid JSON'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res.writeHead(404).end();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POST requests with curl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85855" cy="1920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http://localhost:3000/items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-H "Content-Type: application/json"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-d '{"name":"book","price":12.50}'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749040"/>
            <a:ext cx="11185855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is useful because it shows raw HTTP behavior.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use Postman, Thunder Client, or REST Client extensions.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+ headers (contract with clients)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 in your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→ successful read/update</a:t>
            </a:r>
            <a:endParaRPr lang="en-US" sz="21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→ successful create (POST)</a:t>
            </a:r>
            <a:endParaRPr lang="en-US" sz="21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 → delete or update with no body</a:t>
            </a:r>
            <a:endParaRPr lang="en-US" sz="21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→ invalid input</a:t>
            </a:r>
            <a:endParaRPr lang="en-US" sz="21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→ missing resource</a:t>
            </a:r>
            <a:endParaRPr lang="en-US" sz="21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 → server bug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11185855" cy="2148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res.writeHead(201,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'Content-Type': 'application/json; charset=utf-8',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'Cache-Control': 'no-store'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res.end(JSON.stringify({ id }));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(why browsers block your API calls)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policy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enforce same-origin policy for security.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frontend runs on http://localhost:5173 and API on http://localhost:3000, that’s cross-origin.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 must send CORS headers to allow 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minimal CORS headers (development)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res.setHeader('Access-Control-Allow-Origin', 'http://localhost:5173');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res.setHeader('Access-Control-Allow-Methods', 'GET,POST,PUT,PATCH,DELETE,OPTIONS');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res.setHeader('Access-Control-Allow-Headers', 'Content-Type, Authorization');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 preflight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(req.method === 'OPTIONS')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res.writeHead(204);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static files (very basic)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learning; Express will simplify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 } from 'node:fs/promises';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createServer(async (req, res)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req.url === '/')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html = await readFile('public/index.html', 'utf8');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res.writeHead(200, { 'Content-Type': 'text/html; charset=utf-8'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res.end(html);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res.writeHead(404).end();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Mini API (Node-only)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CRUD service without Express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CRUD: “notes”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contracts + JSON + methods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52578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notes-server.mjs (in-memory)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nextId = 1;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notes = [];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json(res, status, payload)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res.writeHead(status, { 'Content-Type': 'application/json; charset=utf-8' });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res.end(JSON.stringify(payload));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readBody(req)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Promise((resolve, reject) =&gt;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'';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req.on('data', (c) =&gt; (data += c));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req.on('end', () =&gt; resolve(data));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req.on('error', reject);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createServer(async (req, res) =&gt;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new URL(req.url, 'http://localhost');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 /notes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url.pathname === '/notes')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json(res, 200, notes);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POST /notes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'POST' &amp;&amp; url.pathname === '/notes')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raw = await readBody(req);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body;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body = JSON.parse(raw || '{}'); } catch { return json(res, 400, { error: 'Invalid JSON' }); }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(!body.text || String(body.text).trim() === '')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json(res, 400, { error: 'text is required' });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note = { id: nextId++, text: String(body.text), createdAt: Date.now() };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notes.push(note);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json(res, 201, note);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 /notes/:id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url.pathname.startsWith('/notes/')) {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id = Number(url.pathname.split('/')[2]);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note = notes.find((n) =&gt; n.id === id);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(!note) return json(res, 404, { error: 'Not found' });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json(res, 200, note);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json(res, 404, { error: 'Not found' });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}).listen(3000, () =&gt; console.log('http://localhost:3000'));</a:t>
            </a:r>
            <a:endParaRPr lang="en-US" sz="96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it: PUT + DELETE (exercise)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Express helps: routing + params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PUT /notes/:id to replace text</a:t>
            </a:r>
            <a:endParaRPr lang="en-US" sz="22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DELETE /notes/:id to remove a note</a:t>
            </a:r>
            <a:endParaRPr lang="en-US" sz="22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correct status codes: 200/204, 400, 404</a:t>
            </a:r>
            <a:endParaRPr lang="en-US" sz="22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response shapes consistent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11185855" cy="25603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Hint: parse 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 = Number(url.pathname.split('/')[2]);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index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idx = notes.findIndex(n =&gt; n.id === id);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(idx === -1) return json(res, 404, { error: 'Not found' });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persistence (JSON file)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database, but great for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readFile, writeFile } from 'node:fs/promises';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DB_FILE = 'notes-db.json';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loadNotes()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raw = await readFile(DB_FILE, 'utf8');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JSON.parse(raw);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saveNotes(notes)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writeFile(DB_FILE, JSON.stringify(notes, null, 2), 'utf8');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48640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you would use a real DB. This helps you understand read/write and failure modes.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Debugging + Quality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Node projects maintainable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Node in VS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+ stepping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breakpoints in the editor margin.</a:t>
            </a:r>
            <a:endParaRPr lang="en-US" sz="22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“Start Debugging” (or create a launch configuration).</a:t>
            </a:r>
            <a:endParaRPr lang="en-US" sz="22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variables, call stack, and watch expressions.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.vscode/launch.json (simple)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"0.2.0",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"configurations":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"node",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"request": "launch",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"Run server",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"program": "${workspaceFolder}/server.mjs"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request IDs (observability basics)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distributed behavior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your “distributed debugger”.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request ID and include it in every log line for that request.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trace a request across services (later).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crypto from 'node:crypto';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reqId() {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crypto.randomUUID();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inside handler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 = reqId();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console.log(JSON.stringify({ id, event: 'request', method: req.method, url: req.url }));</a:t>
            </a:r>
            <a:endParaRPr lang="en-US" sz="128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 (production hygiene)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drop in-flight requests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processes receive signals (SIGINT, SIGTERM).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server and stop accepting new connections.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in-flight work if possible, then exit.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createServer(handler);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process.on('SIGTERM', () =&gt;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console.log('SIGTERM: shutting down');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server.close(() =&gt;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console.log('closed');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process.exit(0);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(built-in): node:test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unit tests without extra libs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add(a, b)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math.test.js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test from 'node:test';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assert from 'node:assert/strict';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} from './math.js';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test('add()', () =&gt;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assert.equal(add(2, 3), 5);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1005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--test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what you now know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Express makes routing + middleware easy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Node’s role in client–server architecture (server runtime)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 and verify VS Code + Node + npm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packages, scripts, and environment variables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 + event loop mental model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buffers, streams, and building an HTTP server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debugging, logging, and basic production hygiene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440680"/>
            <a:ext cx="11185855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unit: Express.js (routing, middleware, error handling, and real REST APIs)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3304</TotalTime>
  <Words>6156</Words>
  <Application>Microsoft Macintosh PowerPoint</Application>
  <PresentationFormat>Widescreen</PresentationFormat>
  <Paragraphs>922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Islam, Md Touhidul</cp:lastModifiedBy>
  <cp:revision>25</cp:revision>
  <dcterms:created xsi:type="dcterms:W3CDTF">2026-02-20T03:07:52Z</dcterms:created>
  <dcterms:modified xsi:type="dcterms:W3CDTF">2026-02-25T08:33:52Z</dcterms:modified>
</cp:coreProperties>
</file>