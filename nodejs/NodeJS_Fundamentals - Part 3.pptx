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91" r:id="rId3"/>
    <p:sldId id="292" r:id="rId4"/>
    <p:sldId id="316" r:id="rId5"/>
    <p:sldId id="293" r:id="rId6"/>
    <p:sldId id="317" r:id="rId7"/>
    <p:sldId id="294" r:id="rId8"/>
    <p:sldId id="295" r:id="rId9"/>
    <p:sldId id="296" r:id="rId10"/>
    <p:sldId id="318" r:id="rId11"/>
    <p:sldId id="319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5" r:id="rId20"/>
    <p:sldId id="304" r:id="rId21"/>
    <p:sldId id="320" r:id="rId22"/>
    <p:sldId id="321" r:id="rId23"/>
    <p:sldId id="322" r:id="rId24"/>
    <p:sldId id="306" r:id="rId25"/>
    <p:sldId id="307" r:id="rId26"/>
    <p:sldId id="308" r:id="rId27"/>
    <p:sldId id="309" r:id="rId28"/>
    <p:sldId id="310" r:id="rId29"/>
    <p:sldId id="313" r:id="rId30"/>
    <p:sldId id="314" r:id="rId31"/>
    <p:sldId id="31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77"/>
    <p:restoredTop sz="97007"/>
  </p:normalViewPr>
  <p:slideViewPr>
    <p:cSldViewPr snapToGrid="0" snapToObjects="1">
      <p:cViewPr varScale="1">
        <p:scale>
          <a:sx n="127" d="100"/>
          <a:sy n="127" d="100"/>
        </p:scale>
        <p:origin x="992" y="192"/>
      </p:cViewPr>
      <p:guideLst/>
    </p:cSldViewPr>
  </p:slideViewPr>
  <p:outlineViewPr>
    <p:cViewPr>
      <p:scale>
        <a:sx n="33" d="100"/>
        <a:sy n="33" d="100"/>
      </p:scale>
      <p:origin x="0" y="-38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75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Node.js logo (Wikimedia Commons): https://commons.wikimedia.org/wiki/File:Node.js_logo.svg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E401-CAF1-5DC1-CC06-6C312AB9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592F7-54B9-9D6B-7A64-244F7E495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6A84BE-212D-01CB-8533-FAE7C3C98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1F8C-8B9F-58AA-806D-7DDE01DF8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9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D5B39-4DE4-85D3-C678-9296ACF8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638EA-9730-0456-70A5-A58284AA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8160C-EC4B-CAF9-BF99-DFFE3AC40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19E3B-EAA9-06F2-7C45-D416CA062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99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62F1-77CE-A325-A43E-A3A38FCE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094E4-5D09-2701-CB38-8A193EFB2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6A336-E404-1110-29FB-B361C20C3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16825-EC7E-8BC8-1994-B286FDFA1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23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C47F8-2C1D-DB9F-8F80-E9978814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6351D-41BC-EEDE-6A5E-E165A9E5F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A82D9-E8EC-010B-5478-8DF1B112F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508EF-F690-6A08-8552-0755E99CA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01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2693-D5C1-4DEA-BB45-A6B614A86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96F06-F658-51B8-E924-8B33C2B7B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6458D-7C3D-8EA9-7FFF-922EEE4D2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372DA-75BA-DB88-6B3D-600CA3550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33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18A21-B158-61A8-442D-B45C6677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6357E-945D-CFC8-5595-BB9FDB1AF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42EA7-44B6-E13A-8F3E-061CE4712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85FF2-D78F-98C3-E7D2-AEA9886F9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709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B01E9-8796-7EF6-5C24-7359DFAEB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51CEB-E822-1827-0CA7-FB3A5BA2F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BE7BD-F47E-7922-56EA-BA3222353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EF26E-DD13-609B-82D6-B5ECD6C69D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226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182880"/>
            <a:ext cx="12191695" cy="10972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92608"/>
            <a:ext cx="12191695" cy="73152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nod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72" y="1097280"/>
            <a:ext cx="3284376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03722" y="950976"/>
            <a:ext cx="8796533" cy="2587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HCDD 411: 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Fundamentals</a:t>
            </a:r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Part 3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306364" y="3493008"/>
            <a:ext cx="31011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Touhidul Islam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663440" y="26060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Files + Streams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data efficiently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006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73501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files (fs/promises)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89539"/>
            <a:ext cx="11185855" cy="309489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from '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node:fs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/promises';</a:t>
            </a:r>
          </a:p>
          <a:p>
            <a:endParaRPr lang="en-US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 = await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input.txt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'utf8');</a:t>
            </a:r>
          </a:p>
          <a:p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('Read from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input.txt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:\n' + text);</a:t>
            </a:r>
          </a:p>
          <a:p>
            <a:endParaRPr lang="en-US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writeFile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output.txt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text.toUpperCase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'utf8');</a:t>
            </a:r>
          </a:p>
          <a:p>
            <a:endParaRPr lang="en-US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('done');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2520" y="4800600"/>
            <a:ext cx="9614095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 files, prefer streams (next slide) to avoid loading everything into memory.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9DD8A-FFE1-E6A3-B1BE-2EDC2096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73E14D-652F-EC2F-153F-4007EE8C299B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BAE631-1084-3D90-E856-79538DB3DA9B}"/>
              </a:ext>
            </a:extLst>
          </p:cNvPr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(binary data)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505624-705D-596C-DCCD-0DD65B2B510B}"/>
              </a:ext>
            </a:extLst>
          </p:cNvPr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not “text”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FB419-597E-F2EC-36C7-206397E62B91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D2878F-F26C-A590-6E02-4E4DB445D9B2}"/>
              </a:ext>
            </a:extLst>
          </p:cNvPr>
          <p:cNvSpPr/>
          <p:nvPr/>
        </p:nvSpPr>
        <p:spPr>
          <a:xfrm>
            <a:off x="502920" y="1097280"/>
            <a:ext cx="11185855" cy="14269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is a Node type for raw bytes.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network data, images, compressed files, crypto, etc.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Buffer and string requires an encoding (utf8, base64, hex)</a:t>
            </a:r>
            <a:endParaRPr lang="en-US" sz="2400" b="1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06C28A-8397-060F-1FBB-1C8DD70F6BC2}"/>
              </a:ext>
            </a:extLst>
          </p:cNvPr>
          <p:cNvSpPr/>
          <p:nvPr/>
        </p:nvSpPr>
        <p:spPr>
          <a:xfrm>
            <a:off x="502920" y="2579077"/>
            <a:ext cx="11185855" cy="4050323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convert utf-8 string to buffer</a:t>
            </a: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b =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Buffer.from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('hello', 'utf8');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(b);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b.toString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('hex'));</a:t>
            </a:r>
          </a:p>
          <a:p>
            <a:b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b2 =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Buffer.from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('68656c6c6f', 'hex');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(b2);</a:t>
            </a:r>
          </a:p>
          <a:p>
            <a:b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s = b2.toString('utf8')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(s);</a:t>
            </a:r>
          </a:p>
        </p:txBody>
      </p:sp>
    </p:spTree>
    <p:extLst>
      <p:ext uri="{BB962C8B-B14F-4D97-AF65-F5344CB8AC3E}">
        <p14:creationId xmlns:p14="http://schemas.microsoft.com/office/powerpoint/2010/main" val="113949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177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Encoding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9752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b =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Buffer.from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('hello', 'utf8');</a:t>
            </a:r>
            <a:endParaRPr lang="en-US" sz="2400" b="1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take the JavaScript string "hello" (Unicode text),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encode it using UTF-8</a:t>
            </a:r>
            <a:r>
              <a:rPr lang="en-US" sz="2400" dirty="0"/>
              <a:t> (turn characters into bytes),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and put those bytes into a Node Buffer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So, b is the UTF-8 byte sequence for "hello".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Concretely: "hello" → bytes [0x68, 0x65, 0x6c, 0x6c, 0x6f]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'utf8' is optional here because it’s the default for strings: </a:t>
            </a:r>
            <a:r>
              <a:rPr lang="en-US" sz="2400" dirty="0" err="1"/>
              <a:t>Buffer.from</a:t>
            </a:r>
            <a:r>
              <a:rPr lang="en-US" sz="2400" dirty="0"/>
              <a:t>('hello') does the same.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you used a different encoding (e.g., 'utf16le'), you’d get a different byte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19791-B22D-B857-C4B0-F856D7EA6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923E5C-7EB9-9A94-FC1E-9FC15ADD3A2F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CAB7BDF-F3EC-FF1E-E421-5816A71A18F1}"/>
              </a:ext>
            </a:extLst>
          </p:cNvPr>
          <p:cNvSpPr/>
          <p:nvPr/>
        </p:nvSpPr>
        <p:spPr>
          <a:xfrm>
            <a:off x="502920" y="16177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Encoding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1841C3-64E7-005D-9A2B-0E741DF67B36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BAD6C3-0DC4-622C-2E8D-2F7F804A3BD4}"/>
              </a:ext>
            </a:extLst>
          </p:cNvPr>
          <p:cNvSpPr/>
          <p:nvPr/>
        </p:nvSpPr>
        <p:spPr>
          <a:xfrm>
            <a:off x="502920" y="1097279"/>
            <a:ext cx="11185855" cy="5115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b2 =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Buffer.from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('68656c6c6f', 'hex');</a:t>
            </a:r>
            <a:endParaRPr lang="en-US" sz="2400" b="1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string '68656c6c6f' is being interpreted as </a:t>
            </a:r>
            <a:r>
              <a:rPr lang="en-US" sz="2400" b="1" dirty="0"/>
              <a:t>hex characters</a:t>
            </a:r>
            <a:r>
              <a:rPr lang="en-US" sz="2400" dirty="0"/>
              <a:t> (base-16).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Node takes </a:t>
            </a:r>
            <a:r>
              <a:rPr lang="en-US" sz="2400" b="1" dirty="0"/>
              <a:t>each pair of hex digits</a:t>
            </a:r>
            <a:r>
              <a:rPr lang="en-US" sz="2400" dirty="0"/>
              <a:t> as one byte: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/>
              <a:t>68 65 6c 6c 6f → bytes [0x68, 0x65, 0x6c, 0x6c, 0x6f]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 b2 ends up containing the same bytes as </a:t>
            </a:r>
            <a:r>
              <a:rPr lang="en-US" sz="2400" i="1" dirty="0" err="1"/>
              <a:t>Buffer.from</a:t>
            </a:r>
            <a:r>
              <a:rPr lang="en-US" sz="2400" i="1" dirty="0"/>
              <a:t>('hello', 'utf8’)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Important distinction: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'hex' here is </a:t>
            </a:r>
            <a:r>
              <a:rPr lang="en-US" sz="2400" b="1" dirty="0"/>
              <a:t>not a text encoding like UTF-8</a:t>
            </a:r>
            <a:r>
              <a:rPr lang="en-US" sz="2400" dirty="0"/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It’s a </a:t>
            </a:r>
            <a:r>
              <a:rPr lang="en-US" sz="2400" b="1" dirty="0"/>
              <a:t>byte-string representation format</a:t>
            </a:r>
            <a:r>
              <a:rPr lang="en-US" sz="2400" dirty="0"/>
              <a:t> (a way to write bytes as characters 0-9a-f).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UTF-8 is about mapping </a:t>
            </a:r>
            <a:r>
              <a:rPr lang="en-US" sz="2400" b="1" dirty="0"/>
              <a:t>characters → bytes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Hex is about mapping </a:t>
            </a:r>
            <a:r>
              <a:rPr lang="en-US" sz="2400" b="1" dirty="0"/>
              <a:t>bytes ↔ two hex digits</a:t>
            </a:r>
            <a:r>
              <a:rPr lang="en-US" sz="2400" dirty="0"/>
              <a:t> (for display/transport)</a:t>
            </a:r>
          </a:p>
        </p:txBody>
      </p:sp>
    </p:spTree>
    <p:extLst>
      <p:ext uri="{BB962C8B-B14F-4D97-AF65-F5344CB8AC3E}">
        <p14:creationId xmlns:p14="http://schemas.microsoft.com/office/powerpoint/2010/main" val="49121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(process data in chunks)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better for large payloads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954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handle data over time: you don’t need the full file in memory.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pipe() </a:t>
            </a:r>
            <a:r>
              <a:rPr lang="en-US" sz="2400" dirty="0"/>
              <a:t>connects a Readable to a Writable. 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/>
              <a:t>Prefer </a:t>
            </a:r>
            <a:r>
              <a:rPr lang="en-US" sz="2400" dirty="0">
                <a:solidFill>
                  <a:srgbClr val="FF0000"/>
                </a:solidFill>
              </a:rPr>
              <a:t>pipeline() </a:t>
            </a:r>
            <a:r>
              <a:rPr lang="en-US" sz="2400" dirty="0"/>
              <a:t>when you want reliable error propagation and automatic cleanup.</a:t>
            </a:r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streams use cases: file copy, uploads/downloads, compression, HTTP bodies.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4497674"/>
            <a:ext cx="11185855" cy="161872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createReadStream, createWriteStream } from 'node:fs';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createReadStream('big.mp4') 	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.pipe(createWriteStream('copy.mp4'));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177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streams: pipeline()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8862"/>
            <a:ext cx="11185855" cy="342313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createReadStream, createWriteStream } from 'node:fs';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pipeline } from 'node:stream/promises';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pipeline(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createReadStream('big.mp4'),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createWriteStream('copy.mp4')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console.log('copied');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4888520"/>
            <a:ext cx="11185855" cy="10433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 returns a Promise (nice with async/await).</a:t>
            </a:r>
            <a:endParaRPr lang="en-US" sz="2400" dirty="0"/>
          </a:p>
          <a:p>
            <a:pPr marL="205740" indent="-20574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fails, it throws an error that you can handle with try/catch.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522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+ transform: gzip compression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0247"/>
            <a:ext cx="11185855" cy="423343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createReadStream, createWriteStream } from 'node:fs';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createGzip } from 'node:zlib';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pipeline } from 'node:stream/promises';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pipeline(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createReadStream('server.log'),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createGzip(),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createWriteStream('server.log.gz')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console.log('compressed');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3307" y="5652867"/>
            <a:ext cx="1016508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38BDF8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saves bandwidth — often a bigger bottleneck than CPU in distributed systems.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4429-65C0-94C6-40DF-F97F57471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07E014-4655-9182-22E5-03E69348BE2B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F669ED-9EEA-7C28-2337-CE52865029F7}"/>
              </a:ext>
            </a:extLst>
          </p:cNvPr>
          <p:cNvSpPr/>
          <p:nvPr/>
        </p:nvSpPr>
        <p:spPr>
          <a:xfrm>
            <a:off x="502920" y="16177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Writable, and Transform Streams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E53CE6-4B48-DCCA-D22C-B8C1F01D8C33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670796-6061-1834-35FF-2C67392A11AB}"/>
              </a:ext>
            </a:extLst>
          </p:cNvPr>
          <p:cNvSpPr/>
          <p:nvPr/>
        </p:nvSpPr>
        <p:spPr>
          <a:xfrm>
            <a:off x="502920" y="1097279"/>
            <a:ext cx="11185855" cy="5115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00E66-59A3-035E-B294-E78E42791772}"/>
              </a:ext>
            </a:extLst>
          </p:cNvPr>
          <p:cNvSpPr txBox="1"/>
          <p:nvPr/>
        </p:nvSpPr>
        <p:spPr>
          <a:xfrm>
            <a:off x="502920" y="996462"/>
            <a:ext cx="111858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Readable stream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produces data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reading a big file, incoming HTTP request body,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 </a:t>
            </a:r>
            <a:r>
              <a:rPr lang="en-US" sz="24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createReadStream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Writable stream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destination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consumes chunks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(e.g., writing to a file, sending an HTTP response,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method: </a:t>
            </a:r>
            <a:r>
              <a:rPr lang="en-US" sz="24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createWriteStream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Transform stream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 step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chunks as they pass through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(e.g.,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gzip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compress, encrypt, convert to uppercase,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method: </a:t>
            </a:r>
            <a:r>
              <a:rPr lang="en-US" sz="240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createGzip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17855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4F25-BA5E-BD6A-1C0C-C3CF56F3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876A9E-DA74-024F-0760-ADCCE6AA9D6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F69FED-FD54-0238-75BC-3092E3F40DA1}"/>
              </a:ext>
            </a:extLst>
          </p:cNvPr>
          <p:cNvSpPr/>
          <p:nvPr/>
        </p:nvSpPr>
        <p:spPr>
          <a:xfrm>
            <a:off x="502920" y="18522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Same Example Using pipe()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7FDC24-E311-204E-272C-1EEE2CFE1E1D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78BEDA-56F5-B177-4199-E77636AEC2BA}"/>
              </a:ext>
            </a:extLst>
          </p:cNvPr>
          <p:cNvSpPr/>
          <p:nvPr/>
        </p:nvSpPr>
        <p:spPr>
          <a:xfrm>
            <a:off x="164123" y="1204662"/>
            <a:ext cx="11852031" cy="30273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createReadStream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createWriteStream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from '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node:fs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</a:t>
            </a:r>
          </a:p>
          <a:p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createGzip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from '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node:zlib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</a:t>
            </a:r>
          </a:p>
          <a:p>
            <a:endParaRPr lang="en-US" sz="2000" dirty="0">
              <a:solidFill>
                <a:srgbClr val="E5E7EB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createReadStream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server.log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      // produces chunks</a:t>
            </a:r>
          </a:p>
          <a:p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.pipe(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createGzip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           // receives chunks, compresses them</a:t>
            </a:r>
          </a:p>
          <a:p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.pipe(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createWriteStream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</a:t>
            </a:r>
            <a:r>
              <a:rPr lang="en-US" sz="2000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server.log.gz</a:t>
            </a: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')); // writes compressed chunks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7259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7889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HTTP in Node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HTTP server (node:http)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server-side JavaScript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49569"/>
            <a:ext cx="11185855" cy="3704493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server.mjs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createServer((req, res)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res.statusCode = 200;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res.setHeader('Content-Type', 'text/plain; charset=utf-8');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res.end('Hello from Node HTTP server!');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server.listen(3000, ()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console.log('Listening on http://localhost:3000');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4853824"/>
            <a:ext cx="11185855" cy="177557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# run server: terminal -1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node </a:t>
            </a:r>
            <a:r>
              <a:rPr lang="en-US" sz="2000" dirty="0" err="1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server.mjs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ea typeface="Courier New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test server: terminal- 2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curl http://localhost:3000</a:t>
            </a:r>
            <a:endParaRPr lang="en-US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(manual): method + URL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will automate this later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76178"/>
            <a:ext cx="11185855" cy="4126757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createServer((req, res) =&gt;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req.url === '/health')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'Content-Type': 'application/json' });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res.end(JSON.stringify({ ok: true }));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res.writeHead(404, { 'Content-Type': 'application/json' });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res.end(JSON.stringify({ error: 'Not found' }));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01D6CCF-F1C3-F026-0172-ECD4BBC2AAE8}"/>
              </a:ext>
            </a:extLst>
          </p:cNvPr>
          <p:cNvSpPr/>
          <p:nvPr/>
        </p:nvSpPr>
        <p:spPr>
          <a:xfrm>
            <a:off x="502920" y="5532120"/>
            <a:ext cx="11185855" cy="1097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// test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curl http://localhost:3000/health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URLs and query strings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URL class (built-in)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11185855" cy="43891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createServer((req, res)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new URL(req.url, 'http://localhost');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(url.pathname === '/echo')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msg = url.searchParams.get('msg') ?? '';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'Content-Type': 'application/json' });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res.end(JSON.stringify({ msg }));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res.writeHead(404).end();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10972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</a:t>
            </a:r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"http://localhost:3000/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echo?msg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=hello"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JSON request body (POST)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 are streams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85855" cy="592531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readJson(req)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Promise((resolve, reject)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'';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req.on('data', (chunk) =&gt; (data += chunk));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req.on('end', 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resolve(JSON.parse(data || '{}'));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reject(e);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req.on('error', reject);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createServer(async (req, res)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'POST' &amp;&amp; req.url === '/items')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body = await readJson(req);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res.writeHead(201,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res.end(JSON.stringify({ created: true, body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res.writeHead(400, { 'Content-Type': 'application/json' });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res.end(JSON.stringify({ error: 'Invalid JSON' }));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res.writeHead(404).end();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177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POST requests with curl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11185855" cy="1920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http://localhost:3000/items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-H "Content-Type: application/json"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'{"name":"book","price":12.50}'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3749040"/>
            <a:ext cx="11185855" cy="1385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is useful because it shows raw HTTP behavior.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use Postman, Thunder Client, or REST Client extensions.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1778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 + headers (contract with clients)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→ successful read/update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→ successful create (POST)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 → delete or update with no body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→ invalid input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 → missing resource</a:t>
            </a:r>
            <a:endParaRPr lang="en-US" sz="2400" dirty="0"/>
          </a:p>
          <a:p>
            <a:pPr marL="240030" indent="-24003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 → server bug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4297680"/>
            <a:ext cx="11185855" cy="1892105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res.writeHead(201, {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'Content-Type': 'application/json; charset=utf-8',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 'Cache-Control': 'no-store'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});</a:t>
            </a: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id = 42;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res.end(JSON.stringify({ id }));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static files (very basic)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learning; Express will simplify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1185855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 } from 'node:fs/promises';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createServer(async (req, res)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req.url === '/')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html = await readFile('public/index.html', 'utf8');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res.writeHead(200, { 'Content-Type': 'text/html; charset=utf-8' });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res.end(html);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res.writeHead(404).end();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}).listen(3000);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522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(Cross-Origin Resource Sharing)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798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enforce same-origin policy for security.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frontend runs on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API on </a:t>
            </a: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that’s cross-origin.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must send CORS headers to allow 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989384"/>
            <a:ext cx="11185855" cy="368339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minimal CORS headers (development)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res.setHeader('Access-Control-Allow-Origin', 'http://localhost:5173');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res.setHeader('Access-Control-Allow-Methods', 'GET,POST,PUT,PATCH,DELETE,OPTIONS');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res.setHeader('Access-Control-Allow-Headers', 'Content-Type, Authorization');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preflight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(req.method === 'OPTIONS')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res.writeHead(204);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3CAE2-A15D-0C34-F466-3EB736A52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A24F92-59C7-6E5A-9555-C15B306A249C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7A600D-BE68-CE64-A3AA-7B9820B5E3E2}"/>
              </a:ext>
            </a:extLst>
          </p:cNvPr>
          <p:cNvSpPr/>
          <p:nvPr/>
        </p:nvSpPr>
        <p:spPr>
          <a:xfrm>
            <a:off x="502920" y="18522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(Cross-Origin Resource Sharing)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114118-E5E0-8922-D354-0A4B655F9426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159CB4-3DEB-0530-8E8F-903DCA9408A6}"/>
              </a:ext>
            </a:extLst>
          </p:cNvPr>
          <p:cNvSpPr/>
          <p:nvPr/>
        </p:nvSpPr>
        <p:spPr>
          <a:xfrm>
            <a:off x="246186" y="1097279"/>
            <a:ext cx="11854070" cy="5532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/>
              <a:t>1) Access-Control-Allow-Origin</a:t>
            </a:r>
          </a:p>
          <a:p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res.setHeader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('Access-Control-Allow-Origin', 'http://localhost:5173');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Tells the browser: “Requests coming from </a:t>
            </a:r>
            <a:r>
              <a:rPr lang="en-US" sz="2400" b="1" dirty="0"/>
              <a:t>this origin</a:t>
            </a:r>
            <a:r>
              <a:rPr lang="en-US" sz="2400" dirty="0"/>
              <a:t> are allowed to read the response.”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Without this, the server might respond, but the </a:t>
            </a:r>
            <a:r>
              <a:rPr lang="en-US" sz="2400" b="1" dirty="0"/>
              <a:t>browser will block JS from accessing it</a:t>
            </a:r>
            <a:r>
              <a:rPr lang="en-US" sz="2400" dirty="0"/>
              <a:t>.</a:t>
            </a:r>
          </a:p>
          <a:p>
            <a:endParaRPr lang="en-US" sz="2400" b="1" dirty="0"/>
          </a:p>
          <a:p>
            <a:r>
              <a:rPr lang="en-US" sz="2400" b="1" dirty="0"/>
              <a:t>2) Access-Control-Allow-Methods</a:t>
            </a:r>
          </a:p>
          <a:p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res.setHeader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('Access-Control-Allow-Methods', 'GET,POST,PUT,PATCH,DELETE,OPTIONS');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Tells the browser which HTTP methods are permitted cross-origin.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browser checks this mainly during </a:t>
            </a:r>
            <a:r>
              <a:rPr lang="en-US" sz="2400" b="1" dirty="0"/>
              <a:t>preflight</a:t>
            </a:r>
            <a:r>
              <a:rPr lang="en-US" sz="2400" dirty="0"/>
              <a:t> (below).</a:t>
            </a:r>
          </a:p>
          <a:p>
            <a:endParaRPr lang="en-US" sz="2400" b="1" dirty="0"/>
          </a:p>
          <a:p>
            <a:r>
              <a:rPr lang="en-US" sz="2400" b="1" dirty="0"/>
              <a:t>3) Access-Control-Allow-Headers</a:t>
            </a:r>
          </a:p>
          <a:p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res.setHeader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('Access-Control-Allow-Headers', 'Content-Type, application/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Tells the browser which request headers the frontend is allowed to send.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Example: sending JSON often uses Content-Type: application/</a:t>
            </a:r>
            <a:r>
              <a:rPr lang="en-US" sz="2400" dirty="0" err="1"/>
              <a:t>json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9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98665-B4A6-AE2E-8CBB-406AA831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8DD27-724E-A19F-06FA-B81746C5064E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F31BF2-BC0C-73AD-9080-A62D8DF97834}"/>
              </a:ext>
            </a:extLst>
          </p:cNvPr>
          <p:cNvSpPr/>
          <p:nvPr/>
        </p:nvSpPr>
        <p:spPr>
          <a:xfrm>
            <a:off x="502920" y="18522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(Cross-Origin Resource Sharing)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C1AB49-435E-8FAF-590C-997A41746E2E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2CC931-CD98-5AB9-0B29-E472A12838D0}"/>
              </a:ext>
            </a:extLst>
          </p:cNvPr>
          <p:cNvSpPr/>
          <p:nvPr/>
        </p:nvSpPr>
        <p:spPr>
          <a:xfrm>
            <a:off x="246186" y="1097280"/>
            <a:ext cx="11854070" cy="3875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The browser sometimes sends an OPTIONS request first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Before the “real” request, the browser may send: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OPTIONS /your-endpoint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asking: “If I send POST with JSON + headers, will you allow it?”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If the request is OPTIONS, you </a:t>
            </a:r>
            <a:r>
              <a:rPr lang="en-US" altLang="en-US" sz="2400" b="1" dirty="0"/>
              <a:t>don’t run your API logic</a:t>
            </a:r>
            <a:r>
              <a:rPr lang="en-US" altLang="en-US" sz="2400" dirty="0"/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You just reply quickly: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204 No Content (means “OK, nothing to return”)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plus the CORS headers already set above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Then the browser proceeds with the real 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FC350D1-4ACC-FCEA-99AC-B9FFDCCE3535}"/>
              </a:ext>
            </a:extLst>
          </p:cNvPr>
          <p:cNvSpPr/>
          <p:nvPr/>
        </p:nvSpPr>
        <p:spPr>
          <a:xfrm>
            <a:off x="502919" y="5123452"/>
            <a:ext cx="11185855" cy="153815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req.method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'OPTIONS') {</a:t>
            </a:r>
          </a:p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res.writeHead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(204);</a:t>
            </a:r>
          </a:p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dirty="0" err="1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res.end</a:t>
            </a: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return;</a:t>
            </a:r>
          </a:p>
          <a:p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AD489-0C13-2B6D-C077-EEFBB0A18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F03E46-C476-796B-78C5-3BAEBB0A087D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CAD0C6-1848-2059-8069-4F830D7E49BB}"/>
              </a:ext>
            </a:extLst>
          </p:cNvPr>
          <p:cNvSpPr/>
          <p:nvPr/>
        </p:nvSpPr>
        <p:spPr>
          <a:xfrm>
            <a:off x="502920" y="185224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(Summary)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491FF5-2B19-55D1-E117-B24800F3FB2D}"/>
              </a:ext>
            </a:extLst>
          </p:cNvPr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4DCA238-8B5D-8977-DF08-0A03A20FCADB}"/>
              </a:ext>
            </a:extLst>
          </p:cNvPr>
          <p:cNvSpPr/>
          <p:nvPr/>
        </p:nvSpPr>
        <p:spPr>
          <a:xfrm>
            <a:off x="502920" y="1164661"/>
            <a:ext cx="11185855" cy="3489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Frontend (5173) calls API (3000)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Browser says: “Different origin. I need CORS permission.”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Server includes CORS headers → browser allows it.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If the request needs preflight, browser sends OPTIONS first → server answers 204 → browser then sends real request.</a:t>
            </a:r>
          </a:p>
        </p:txBody>
      </p:sp>
    </p:spTree>
    <p:extLst>
      <p:ext uri="{BB962C8B-B14F-4D97-AF65-F5344CB8AC3E}">
        <p14:creationId xmlns:p14="http://schemas.microsoft.com/office/powerpoint/2010/main" val="4085508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753748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Mini API (Node-only)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CRUD: “notes”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Copy the code to your IDE and check; font too small for here</a:t>
            </a:r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11185855" cy="565099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notes-server.mjs (in-memory)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createServer } from 'node:http';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1;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notes = [];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json(res, status, payload)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res.writeHead(status, { 'Content-Type': 'application/json; charset=utf-8'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res.end(JSON.stringify(payload));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readBody(req)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Promise((resolve, reject) =&gt;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'';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req.on('data', (c) =&gt; (data += c));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req.on('end', () =&gt; resolve(data));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req.on('error', reject);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createServer(async (req, res) =&gt;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new URL(req.url, 'http://localhost');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 /notes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url.pathname === '/notes')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json(res, 200, notes);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POST /notes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'POST' &amp;&amp; url.pathname === '/notes')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raw = await readBody(req);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body;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body = JSON.parse(raw || '{}'); } catch { return json(res, 400, { error: 'Invalid JSON' });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(!body.text || String(body.text).trim() === '')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json(res, 400, { error: 'text is required'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note = { id: nextId++, text: String(body.text), createdAt: Date.now() };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notes.push(note);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json(res, 201, note);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 /notes/:id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(req.method === 'GET' &amp;&amp; url.pathname.startsWith('/notes/')) {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id = Number(url.pathname.split('/')[2]);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note = notes.find((n) =&gt; n.id === id);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(!note) return json(res, 404, { error: 'Not found'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json(res, 200, note);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6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json(res, 404, { error: 'Not found' });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}).listen(3000, () =&gt; console.log('http://localhost:3000'));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it: PUT + DELETE (exercise)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Express helps: routing + params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PUT /notes/:id to replace text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DELETE /notes/:id to remove a note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correct status codes: 200/204, 400, 404</a:t>
            </a:r>
            <a:endParaRPr lang="en-US" sz="2400" dirty="0"/>
          </a:p>
          <a:p>
            <a:pPr marL="251460" indent="-25146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response shapes consistent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048000"/>
            <a:ext cx="11185855" cy="2625969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Hint: parse 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 = Number(url.pathname.split('/')[2]);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index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idx = notes.findIndex(n =&gt; n.id === id);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(idx === -1) return json(res, 404, { error: 'Not found' });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persistence (JSON file)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database, but great for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19" y="859536"/>
            <a:ext cx="11185855" cy="500176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readFile, writeFile } from 'node:fs/promises';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DB_FILE = 'notes-db.json';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loadNotes()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raw = await readFile(DB_FILE, 'utf8');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JSON.parse(raw);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[];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saveNotes(notes)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writeFile(DB_FILE, JSON.stringify(notes, null, 2), 'utf8');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19" y="6080525"/>
            <a:ext cx="11185855" cy="49377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F59E0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you would use a real DB. This helps you understand read/write and failure modes.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11185855" cy="2926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Debugging + Quality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60120" y="32461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Node projects maintainable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 (production hygiene)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drop in-flight requests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14349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processes receive signals (SIGINT, SIGTERM).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server and stop accepting new connections.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in-flight work if possible, then exit.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1185855" cy="37033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createServer(handler);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process.on('SIGTERM', () =&gt;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console.log('SIGTERM: shutting down');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server.close(() =&gt;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console.log('closed');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process.exit(0);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(built-in): node:test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unit tests without extra libs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73015"/>
            <a:ext cx="11185855" cy="4229921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math.test.js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test from 'node:test';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assert from 'node:assert/strict';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 } from './math.js';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test('add()', () =&gt; 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assert.equal(add(2, 3), 5);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5532120"/>
            <a:ext cx="11185855" cy="1005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  <a:effectLst>
            <a:outerShdw blurRad="25400" dist="254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2286" tIns="3302" rIns="3302" bIns="1524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--test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1118585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what you now know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118585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Express makes routing + middleware easy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551615" y="66294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85855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Node’s role in client–server architecture (server runtime)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install and verify VS Code + Node + npm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packages, scripts, and environment variables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 + event loop mental model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buffers, streams, and building an HTTP server</a:t>
            </a:r>
            <a:endParaRPr lang="en-US" sz="24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basic production hygiene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1" y="4508695"/>
            <a:ext cx="9965788" cy="49354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  <a:effectLst>
            <a:outerShdw blurRad="25400" dist="2540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286" tIns="2794" rIns="2794" bIns="1778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unit: Express.js (routing, middleware, error handling, and real REST APIs)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11229</TotalTime>
  <Words>3287</Words>
  <Application>Microsoft Macintosh PowerPoint</Application>
  <PresentationFormat>Widescreen</PresentationFormat>
  <Paragraphs>482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Islam, Md Touhidul</cp:lastModifiedBy>
  <cp:revision>47</cp:revision>
  <dcterms:created xsi:type="dcterms:W3CDTF">2026-02-20T03:07:52Z</dcterms:created>
  <dcterms:modified xsi:type="dcterms:W3CDTF">2026-03-04T20:36:59Z</dcterms:modified>
</cp:coreProperties>
</file>