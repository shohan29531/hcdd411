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72" r:id="rId13"/>
    <p:sldId id="273" r:id="rId14"/>
    <p:sldId id="267" r:id="rId15"/>
    <p:sldId id="274" r:id="rId16"/>
    <p:sldId id="268" r:id="rId17"/>
    <p:sldId id="269" r:id="rId18"/>
    <p:sldId id="275" r:id="rId19"/>
    <p:sldId id="270" r:id="rId20"/>
    <p:sldId id="276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89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9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475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919AD-7B1E-BA19-D632-EF3A54667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C1C63-6F5B-CBB2-70BA-C67919BB4B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E36CA-DE4E-2ABE-808E-7480D64BB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4C156-5853-9F49-CC7C-6F9AF1244B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945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Node.js logo (Wikimedia Commons): https://commons.wikimedia.org/wiki/File:Node.js_logo.svg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Node.js definition: https://nodejs.org/en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VS Code icon: https://code.visualstudio.com/brand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VS Code download: https://code.visualstudio.com/download
- VS Code setup overview: https://code.visualstudio.com/docs/setup/setup-overview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C771-4FDB-1723-7F0B-A870CFF6C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038C8D-6D45-BF87-8F17-3A8F91F7C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2815C-2789-80ED-E686-1A46D125F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VS Code download: https://code.visualstudio.com/download
- VS Code setup overview: https://code.visualstudio.com/docs/setup/setup-overview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F1AA2-E84D-FB0B-4EF0-16AFFA67B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24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Node.js releases and LTS status: https://nodejs.org/en/about/previous-releases
- Node.js download page: https://nodejs.org/en/download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9AC26-2227-129C-0EB9-158350D40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533BA-3D31-BEC1-8107-9A4588D0D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832E2-C351-2228-A925-680472D58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Node.js releases and LTS status: https://nodejs.org/en/about/previous-releases
- Node.js download page: https://nodejs.org/en/download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E1892-78C7-519C-5806-3BB62F0B58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475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2B3AC-540A-15B2-EB92-DD178CBAA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6542C1-8C7F-7A1E-938F-48FD53A60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5D369-3DF4-12B1-5910-AD5464F47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Node.js releases and LTS status: https://nodejs.org/en/about/previous-releases
- Node.js download page: https://nodejs.org/en/download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DC028-4586-D234-D5D0-65EDAD3CB8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196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wnload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EE0B3-8ED4-8A91-33A0-0429AF52F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94ECE7-BFF8-FCB3-4225-D79D92ACFBBD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636B91-AAC8-4AB4-DD7C-6E348B899975}"/>
              </a:ext>
            </a:extLst>
          </p:cNvPr>
          <p:cNvSpPr/>
          <p:nvPr/>
        </p:nvSpPr>
        <p:spPr>
          <a:xfrm>
            <a:off x="502919" y="210312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Responding to Your Survey Comments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6D18D46-48FE-CE7D-8947-C1FBA9E51564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1CDB165-27CB-FC2F-C6A8-BEDCD6D95EEE}"/>
              </a:ext>
            </a:extLst>
          </p:cNvPr>
          <p:cNvSpPr/>
          <p:nvPr/>
        </p:nvSpPr>
        <p:spPr>
          <a:xfrm>
            <a:off x="502920" y="1097279"/>
            <a:ext cx="11185855" cy="4745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F2B3CD-199B-4B9B-642E-FB39F412E262}"/>
              </a:ext>
            </a:extLst>
          </p:cNvPr>
          <p:cNvSpPr txBox="1"/>
          <p:nvPr/>
        </p:nvSpPr>
        <p:spPr>
          <a:xfrm>
            <a:off x="381837" y="960120"/>
            <a:ext cx="1057086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Too easy material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What to cover </a:t>
            </a:r>
            <a:r>
              <a:rPr lang="en-US" sz="2400"/>
              <a:t>in class, </a:t>
            </a:r>
            <a:r>
              <a:rPr lang="en-US" sz="2400" dirty="0"/>
              <a:t>what not to cover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More practice problems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Quiz on Friday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Ungraded Quiz</a:t>
            </a:r>
          </a:p>
        </p:txBody>
      </p:sp>
    </p:spTree>
    <p:extLst>
      <p:ext uri="{BB962C8B-B14F-4D97-AF65-F5344CB8AC3E}">
        <p14:creationId xmlns:p14="http://schemas.microsoft.com/office/powerpoint/2010/main" val="412923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182880"/>
            <a:ext cx="12191695" cy="109728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nod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572" y="1097280"/>
            <a:ext cx="3284376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03722" y="950976"/>
            <a:ext cx="8796533" cy="2587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HCDD 411: </a:t>
            </a:r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306364" y="3200400"/>
            <a:ext cx="31011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Touhidul Islam</a:t>
            </a:r>
            <a:endParaRPr lang="en-US" sz="2800" b="1" dirty="0">
              <a:solidFill>
                <a:srgbClr val="FFC00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663440" y="26060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19" y="210312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you’ll be able to do after learning Node.js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79"/>
            <a:ext cx="11185855" cy="4745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where Node.js sits in a client–server architecture (and why we use it)</a:t>
            </a:r>
            <a:endParaRPr lang="en-US" sz="2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run Node programs: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2400" b="1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loop, async I/O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</a:t>
            </a:r>
            <a:endParaRPr lang="en-US" sz="2400" b="1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core Node modules (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 HTTP API using only Node (before we add Express)</a:t>
            </a:r>
            <a:endParaRPr lang="en-US" sz="2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in VS Code, structure projects, and adopt basic best practices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84107" y="2910582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Why Node.js?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1" y="108486"/>
            <a:ext cx="496798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Node.js?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185855" cy="960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22C55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Node.js® is a free, open-source, cross-platform JavaScript runtime environment.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19" y="2420063"/>
            <a:ext cx="11185855" cy="19039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JS runs inside the browser sandbox (DOM, window, user-driven)</a:t>
            </a:r>
            <a:endParaRPr lang="en-US" sz="2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runs on your machine / server (file system, network sockets, processes)</a:t>
            </a:r>
            <a:endParaRPr lang="en-US" sz="2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language as the client → easier full-stack development and shared code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5219982"/>
            <a:ext cx="11185855" cy="118081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8BDF8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distributed systems terms: Node is a convenient platform for writing servers that expose remote services (APIs) and coordinate I/O.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25430" y="91440"/>
            <a:ext cx="11185855" cy="528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Node.js sits in the client–server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2377440" cy="1115568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(Browser)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+ Fetch/Axios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417372" y="1417320"/>
            <a:ext cx="2377440" cy="1115568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HTTP(S) Requests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378333" y="1417320"/>
            <a:ext cx="2377440" cy="1115568"/>
          </a:xfrm>
          <a:prstGeom prst="roundRect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(Node.js)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Business Logic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0275" y="1417320"/>
            <a:ext cx="2377440" cy="1115568"/>
          </a:xfrm>
          <a:prstGeom prst="roundRect">
            <a:avLst/>
          </a:prstGeom>
          <a:solidFill>
            <a:srgbClr val="EDE9FE"/>
          </a:solidFill>
          <a:ln>
            <a:solidFill>
              <a:srgbClr val="A78BFA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/ Cache / Files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971800" y="1825977"/>
            <a:ext cx="433944" cy="305538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5901756" y="1811475"/>
            <a:ext cx="430068" cy="32004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8862704" y="1811475"/>
            <a:ext cx="476589" cy="32004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502920" y="3337560"/>
            <a:ext cx="11185855" cy="1143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sits on the </a:t>
            </a:r>
            <a:r>
              <a:rPr lang="en-US" sz="2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side</a:t>
            </a: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client–server architecture.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receives HTTP requests, runs business logic, and talks to data stores or other services.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3629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Node.js?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36762"/>
            <a:ext cx="11185855" cy="2591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how to call APIs from the client (fetch/axios/AJAX).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we learn how to implement the server that receives those calls.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gives us: networking + files + processes + a huge ecosystem (npm).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build distributed components: API servers, workers, gateways, CLIs.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5257800"/>
            <a:ext cx="11185855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A78BFA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model: Your client code calls “remote methods”. Node is where those remote methods actually run.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8442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Node.js is a great fit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concurrent connections (chat, dashboards, APIs with lots of users)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I/O-bound workloads: DB calls, HTTP calls to other services, file operations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JSON-heavy APIs (web/mobile clients)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iteration + big ecosystem (middleware, auth, validation, etc.)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19" y="2765672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Setup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95713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we’ll use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6" name="Image 0" descr="/mnt/data/vscod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1143000"/>
            <a:ext cx="998621" cy="99862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097279"/>
            <a:ext cx="9052560" cy="3129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12344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05840" y="1508759"/>
            <a:ext cx="8503920" cy="2598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 Studio Code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(LTS recommended)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npm (bundled with Node)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(but useful):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nvm / nvm-windows (manage Node versions)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02919" y="5133468"/>
            <a:ext cx="11185855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8BDF8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We’ll write pure Node code first. Express comes later.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8442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 (quick checklist)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the official site and install.</a:t>
            </a:r>
          </a:p>
          <a:p>
            <a:pPr marL="685800" lvl="1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https://code.visualstudio.com/download</a:t>
            </a:r>
            <a:endParaRPr lang="en-US" sz="2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685800" lvl="1" indent="-228600">
              <a:lnSpc>
                <a:spcPct val="110000"/>
              </a:lnSpc>
              <a:buSzPct val="100000"/>
              <a:buChar char="•"/>
            </a:pPr>
            <a:endParaRPr lang="en-US" sz="2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2B7681-4DB4-2BF2-8D48-7203C060D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21" y="161367"/>
            <a:ext cx="11556694" cy="61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64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B56524-EDF6-EC0C-9B8F-668C1B498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F4986B-24EB-FA6F-975F-744991783E91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A60585-DDD3-5A7D-06F7-D581E4BE0153}"/>
              </a:ext>
            </a:extLst>
          </p:cNvPr>
          <p:cNvSpPr/>
          <p:nvPr/>
        </p:nvSpPr>
        <p:spPr>
          <a:xfrm>
            <a:off x="502920" y="18442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Steps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D0A53F2-770D-8DC3-E3AA-B42D63F01CE5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50E0A5-52B7-ABEB-82E0-866BA568FDB0}"/>
              </a:ext>
            </a:extLst>
          </p:cNvPr>
          <p:cNvSpPr/>
          <p:nvPr/>
        </p:nvSpPr>
        <p:spPr>
          <a:xfrm>
            <a:off x="0" y="1083564"/>
            <a:ext cx="11185855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85800" lvl="1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folder in your computer, call it </a:t>
            </a:r>
            <a:r>
              <a:rPr lang="en-US" sz="24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 can call it something else)</a:t>
            </a:r>
          </a:p>
          <a:p>
            <a:pPr marL="685800" lvl="1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VS Code’s start window, click open, then select that </a:t>
            </a:r>
            <a:r>
              <a:rPr lang="en-US" sz="24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folder</a:t>
            </a:r>
          </a:p>
          <a:p>
            <a:pPr marL="685800" lvl="1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terminal by selecting from options: Terminal -&gt; New Terminal</a:t>
            </a:r>
          </a:p>
          <a:p>
            <a:pPr marL="685800" lvl="1" indent="-228600">
              <a:lnSpc>
                <a:spcPct val="110000"/>
              </a:lnSpc>
              <a:buSzPct val="100000"/>
              <a:buChar char="•"/>
            </a:pPr>
            <a:endParaRPr lang="en-US" sz="2400" b="1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5103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8442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Node.js (LTS)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Node.js from the official download page: 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https://nodejs.org/en/download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LTS version for stability in coursework.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BAC682-FE4E-462C-CC48-47F048712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823F10-4DB5-1C88-7F50-4A146D36AFC7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627E0D-04C7-ED11-A1F3-9002C0BE3832}"/>
              </a:ext>
            </a:extLst>
          </p:cNvPr>
          <p:cNvSpPr/>
          <p:nvPr/>
        </p:nvSpPr>
        <p:spPr>
          <a:xfrm>
            <a:off x="502920" y="18442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Installation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50E88E-5906-EC21-CB27-AFEC0103ECFB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DD5A4B-718B-DEEB-6769-5152E2602AE3}"/>
              </a:ext>
            </a:extLst>
          </p:cNvPr>
          <p:cNvSpPr/>
          <p:nvPr/>
        </p:nvSpPr>
        <p:spPr>
          <a:xfrm>
            <a:off x="502920" y="1097280"/>
            <a:ext cx="11185855" cy="13344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installing, verify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versions.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08E512-C93D-EEC4-4CBA-70253055568B}"/>
              </a:ext>
            </a:extLst>
          </p:cNvPr>
          <p:cNvSpPr/>
          <p:nvPr/>
        </p:nvSpPr>
        <p:spPr>
          <a:xfrm>
            <a:off x="502920" y="3703320"/>
            <a:ext cx="11185855" cy="283383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expect something like: v24.x.x (LTS)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-v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show where node lives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node    # Windows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node    # macOS/Linux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53020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8442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manage multiple Node versions (nvm)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0030" indent="-24003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 (macOS/Linux) / nvm-windows lets you install and switch Node versions.</a:t>
            </a:r>
            <a:endParaRPr lang="en-US" sz="2400" dirty="0"/>
          </a:p>
          <a:p>
            <a:pPr marL="240030" indent="-24003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you match project requirements (e.g., “Node 20” vs “Node 24”).</a:t>
            </a:r>
            <a:endParaRPr lang="en-US" sz="2400" dirty="0"/>
          </a:p>
          <a:p>
            <a:pPr marL="240030" indent="-24003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course: pick one LTS and stick to it unless told otherwise.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3288634"/>
            <a:ext cx="11185855" cy="326456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macOS/Linux examples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installed versions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ls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and use a version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install --lts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use --lts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19" y="2910582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Running Node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03856-2F26-DCB7-CA1F-AED9AA93B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BBBDBE-D173-614D-CE86-24D9114992E6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D00D6D-F7A0-DC87-152A-FF8080E27B98}"/>
              </a:ext>
            </a:extLst>
          </p:cNvPr>
          <p:cNvSpPr/>
          <p:nvPr/>
        </p:nvSpPr>
        <p:spPr>
          <a:xfrm>
            <a:off x="502920" y="18442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.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438894-F077-A716-B343-B84F9E70BD26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67E5477-8712-3077-82C3-9BD2CFEDA9EF}"/>
              </a:ext>
            </a:extLst>
          </p:cNvPr>
          <p:cNvSpPr/>
          <p:nvPr/>
        </p:nvSpPr>
        <p:spPr>
          <a:xfrm>
            <a:off x="502920" y="1097280"/>
            <a:ext cx="11185855" cy="21583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/>
              <a:t>Right click on the file explorer section of VS code, then choose new file</a:t>
            </a:r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/>
              <a:t>Name it </a:t>
            </a:r>
            <a:r>
              <a:rPr lang="en-US" sz="2400" dirty="0" err="1"/>
              <a:t>hello.js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1337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87692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Node program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85855" cy="21945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hello.js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console.log('Hello from Node!’);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console.log('Node version:', process.version);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3886200"/>
            <a:ext cx="11185855" cy="12344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it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hello.js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8442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REPL (interactive console)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 = Read–Eval–Print Loop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JavaScript expressions and see results immediately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testing small snippets, regex, JSON transforms, etc.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3272467"/>
            <a:ext cx="11185855" cy="3108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2 + 2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const x = {a:1}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x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a: 1 }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.exit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5201</TotalTime>
  <Words>1211</Words>
  <Application>Microsoft Macintosh PowerPoint</Application>
  <PresentationFormat>Widescreen</PresentationFormat>
  <Paragraphs>161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Islam, Md Touhidul</cp:lastModifiedBy>
  <cp:revision>22</cp:revision>
  <dcterms:created xsi:type="dcterms:W3CDTF">2026-02-20T03:07:52Z</dcterms:created>
  <dcterms:modified xsi:type="dcterms:W3CDTF">2026-02-23T17:53:15Z</dcterms:modified>
</cp:coreProperties>
</file>