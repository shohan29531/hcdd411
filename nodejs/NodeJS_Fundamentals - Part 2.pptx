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73" r:id="rId3"/>
    <p:sldId id="272" r:id="rId4"/>
    <p:sldId id="274" r:id="rId5"/>
    <p:sldId id="275" r:id="rId6"/>
    <p:sldId id="276" r:id="rId7"/>
    <p:sldId id="317" r:id="rId8"/>
    <p:sldId id="318" r:id="rId9"/>
    <p:sldId id="319" r:id="rId10"/>
    <p:sldId id="316" r:id="rId11"/>
    <p:sldId id="320" r:id="rId12"/>
    <p:sldId id="321" r:id="rId13"/>
    <p:sldId id="322" r:id="rId14"/>
    <p:sldId id="277" r:id="rId15"/>
    <p:sldId id="278" r:id="rId16"/>
    <p:sldId id="323" r:id="rId17"/>
    <p:sldId id="279" r:id="rId18"/>
    <p:sldId id="280" r:id="rId19"/>
    <p:sldId id="281" r:id="rId20"/>
    <p:sldId id="282" r:id="rId21"/>
    <p:sldId id="324" r:id="rId22"/>
    <p:sldId id="283" r:id="rId23"/>
    <p:sldId id="284" r:id="rId24"/>
    <p:sldId id="285" r:id="rId25"/>
    <p:sldId id="286" r:id="rId26"/>
    <p:sldId id="326" r:id="rId27"/>
    <p:sldId id="287" r:id="rId28"/>
    <p:sldId id="288" r:id="rId29"/>
    <p:sldId id="290" r:id="rId30"/>
    <p:sldId id="327" r:id="rId31"/>
    <p:sldId id="289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7"/>
    <p:restoredTop sz="86424"/>
  </p:normalViewPr>
  <p:slideViewPr>
    <p:cSldViewPr snapToGrid="0" snapToObjects="1">
      <p:cViewPr varScale="1">
        <p:scale>
          <a:sx n="137" d="100"/>
          <a:sy n="137" d="100"/>
        </p:scale>
        <p:origin x="1128" y="192"/>
      </p:cViewPr>
      <p:guideLst/>
    </p:cSldViewPr>
  </p:slideViewPr>
  <p:outlineViewPr>
    <p:cViewPr>
      <p:scale>
        <a:sx n="33" d="100"/>
        <a:sy n="33" d="100"/>
      </p:scale>
      <p:origin x="0" y="-385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475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Node.js logo (Wikimedia Commons): https://commons.wikimedia.org/wiki/File:Node.js_logo.svg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C4DE3-9373-4EF9-91AD-5E95A4EE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B2F06-2E4B-2DFC-B483-1240DD4FA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35578-DF1A-5D80-4413-350C1588C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38C6C-23DD-71F8-4200-2B20CFF838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901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30250-D7FF-6B8E-BEFA-F56A53BDD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F29AEF-A9D4-2860-8117-8DF517187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C34DAB-096A-C3C5-E85C-A1C10A611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F636C-6968-1788-F27F-C98D5B71CB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86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8DE2C-EEEC-C46E-F9F7-BF73A041F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01F4C-6201-9406-B75E-7C9CA1F63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56F4C-A78D-AF21-9A04-8EF2DBAEA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045D5-BBEB-E8F8-E9D7-3D192AD613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83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9E358-E6FA-4F8C-EE2E-5C2FB45A7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8A13B4-55A0-BDEC-6E59-24284C41A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D64D1-3858-B063-517D-5837521AF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506E3-DE3B-637F-AA91-BA66387762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60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4FE97-FFC2-D1DE-7475-9D7CBC1FD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10A32A-29E6-1709-9028-95B28C05F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8A4A2C-7D8C-D89B-F974-5E3FDC687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374E8-4EE0-6872-87E0-B9CB15218C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9476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B6124-0A77-80D3-1D6B-CDD2B6F0A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31E20-9306-A36D-862B-04024BBBD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CB83B-AF41-4221-58C1-6B17FA0ED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3B01E-2A89-BC0B-29C4-D76DCFEDD3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100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C49B5-00D0-00A2-7FC7-41A8668D5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41782F-8349-4A46-16DF-4B9AC2968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0B328-8C84-4C0F-8536-CF71A86DE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79D46-E4A0-5249-7F58-92F832080C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562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C0737-F25A-AFC7-AD20-E3F55F921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9AFD8-712E-5C73-F58B-D6F151DFA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0399F-521D-CC43-120C-2C98169DE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1144C-A0C7-989D-94F5-BDB4F68D5A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36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C779E-68A8-3489-F099-09ADA157A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96B3E-E3BD-AD28-8A01-18C60F5A4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6D40D7-E8CF-A5BC-08F0-911E5CDBD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7E332-E4DB-FB6B-D6A2-484C77627A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216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6D423-8EA3-1957-610D-6565EDE31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8A8A46-2F09-06E3-9E35-1014B2E71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42F3E4-F30F-FE8A-7E2A-00473A424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4403E-94C0-F038-8B6C-C6E0A65485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2415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7B8F3-CA80-9895-686B-FB124BB9E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8DFED-81D0-CD72-E047-B293B2F3E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93FAA4-EFAF-EDBD-D7E4-26B66B7E4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2D89A-391E-8C4E-6D88-6FE6A73C5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099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182880"/>
            <a:ext cx="12191695" cy="109728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nod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572" y="1097280"/>
            <a:ext cx="3284376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03722" y="950976"/>
            <a:ext cx="8796533" cy="2587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HCDD 411: </a:t>
            </a:r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 </a:t>
            </a:r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(Part -2)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250378" y="3582957"/>
            <a:ext cx="31011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Touhidul Islam</a:t>
            </a:r>
            <a:endParaRPr lang="en-US" sz="2800" b="1" dirty="0">
              <a:solidFill>
                <a:srgbClr val="FFC00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663440" y="26060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19" y="2895084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Modules + npm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893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workflow: auto-restart with nodemon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19790"/>
            <a:ext cx="11185855" cy="1758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nodemon watches files and restarts your Node process when files change.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 servers and scripts while developing.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3337560"/>
            <a:ext cx="11185855" cy="2011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as a dev dependency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-D nodemon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a file with auto-restart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nodemon hello.js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893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package.json: your project manifest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19426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project has a package.json file.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records project info, dependencies, and runnable scripts.</a:t>
            </a:r>
            <a:endParaRPr lang="en-US" sz="2400" dirty="0"/>
          </a:p>
          <a:p>
            <a:pPr marL="251460" indent="-25146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create it once with npm init.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3304674"/>
            <a:ext cx="11185855" cy="3004686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my-node-app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my-node-app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look at package.json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package.json    # macOS/Linux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package.json   # Windows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893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scripts (run commands consistently)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39"/>
            <a:ext cx="11185855" cy="2709465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package.json (snippet)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"scripts":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"dev": "nodemon </a:t>
            </a:r>
            <a:r>
              <a:rPr lang="en-US" sz="20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20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"start": "node src/</a:t>
            </a:r>
            <a:r>
              <a:rPr lang="en-US" sz="20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"test": "node --test"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4367374"/>
            <a:ext cx="11185855" cy="1965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8022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 (why versions look like 1.2.3)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Versioning: MAJOR.MINOR.PATCH</a:t>
            </a:r>
            <a:endParaRPr lang="en-US" sz="2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bug fix 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backward-compatible feature 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breaking change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0CE7C-ABBE-1EFD-BFA3-B4AA4A007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CB71CE1-633F-47A3-9AEC-F695D8600869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A23267-36C7-22DE-B503-9354255CC0BA}"/>
              </a:ext>
            </a:extLst>
          </p:cNvPr>
          <p:cNvSpPr/>
          <p:nvPr/>
        </p:nvSpPr>
        <p:spPr>
          <a:xfrm>
            <a:off x="502920" y="18022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 (why versions look like 1.2.3)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5CA71D1-BCD7-A505-FD23-DCD4C2B346BC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E34B78E-8E97-E7EF-31AA-F21C831DA504}"/>
              </a:ext>
            </a:extLst>
          </p:cNvPr>
          <p:cNvSpPr/>
          <p:nvPr/>
        </p:nvSpPr>
        <p:spPr>
          <a:xfrm>
            <a:off x="502920" y="1097280"/>
            <a:ext cx="11185855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11827"/>
                </a:solidFill>
                <a:ea typeface="Calibri" pitchFamily="34" charset="-122"/>
                <a:cs typeface="Calibri" pitchFamily="34" charset="-120"/>
              </a:rPr>
              <a:t>PATCH </a:t>
            </a:r>
            <a:r>
              <a:rPr lang="en-US" sz="2400" dirty="0"/>
              <a:t>(last number): </a:t>
            </a:r>
            <a:r>
              <a:rPr lang="en-US" sz="2400" dirty="0">
                <a:solidFill>
                  <a:srgbClr val="00B050"/>
                </a:solidFill>
              </a:rPr>
              <a:t>bug fix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Example: </a:t>
            </a:r>
            <a:r>
              <a:rPr lang="en-US" sz="2400" b="1" dirty="0"/>
              <a:t>2.5.13 → 2.5.14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Fixes bugs, security patches, small internal tweaks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No new features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Should not break existing code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Safe to update most of the time</a:t>
            </a:r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endParaRPr lang="en-US" sz="2400" dirty="0">
              <a:solidFill>
                <a:srgbClr val="111827"/>
              </a:solidFill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3219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F18F6-CB32-EE8B-B905-07249F69C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962E30-F981-4D38-0220-AF461F2D78FE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0307B2-AC3F-B7CF-AFF7-8E2EB3F06B0F}"/>
              </a:ext>
            </a:extLst>
          </p:cNvPr>
          <p:cNvSpPr/>
          <p:nvPr/>
        </p:nvSpPr>
        <p:spPr>
          <a:xfrm>
            <a:off x="502920" y="18022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 (why versions look like 1.2.3)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3434B3-C61C-40A5-778A-0E015E0A01F0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23725DC-A67D-EE7B-CC43-E69A11013479}"/>
              </a:ext>
            </a:extLst>
          </p:cNvPr>
          <p:cNvSpPr/>
          <p:nvPr/>
        </p:nvSpPr>
        <p:spPr>
          <a:xfrm>
            <a:off x="502920" y="1097280"/>
            <a:ext cx="11185855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b="1" dirty="0"/>
              <a:t>MINOR</a:t>
            </a:r>
            <a:r>
              <a:rPr lang="en-US" sz="2400" dirty="0"/>
              <a:t> (middle number): </a:t>
            </a:r>
            <a:r>
              <a:rPr lang="en-US" sz="2400" dirty="0">
                <a:solidFill>
                  <a:schemeClr val="accent2"/>
                </a:solidFill>
              </a:rPr>
              <a:t>backward-compatible feature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Example: </a:t>
            </a:r>
            <a:r>
              <a:rPr lang="en-US" sz="2400" b="1" dirty="0"/>
              <a:t>2.5.13 → 2.6.0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Adds new features or improvements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Existing code should still work (backward compatible)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Might add new functions/options, but shouldn’t remove old ones</a:t>
            </a:r>
          </a:p>
          <a:p>
            <a:pPr marL="342900" indent="-3429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111827"/>
              </a:solidFill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99297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415CB6-E408-7911-5FB6-815832F82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DEB3A0-4ED1-14C7-5233-7E1CB2C2BFC9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B5796E-B6FE-7697-16C8-F9EAB93512B7}"/>
              </a:ext>
            </a:extLst>
          </p:cNvPr>
          <p:cNvSpPr/>
          <p:nvPr/>
        </p:nvSpPr>
        <p:spPr>
          <a:xfrm>
            <a:off x="502920" y="18022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 (why versions look like 1.2.3)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EBC6E3-6028-DE92-29CF-56BF1DB2BF2C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762B5BB-0F9B-6C6F-C715-E0AFC614BD05}"/>
              </a:ext>
            </a:extLst>
          </p:cNvPr>
          <p:cNvSpPr/>
          <p:nvPr/>
        </p:nvSpPr>
        <p:spPr>
          <a:xfrm>
            <a:off x="502920" y="1097280"/>
            <a:ext cx="11185855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b="1" dirty="0"/>
              <a:t>MAJOR</a:t>
            </a:r>
            <a:r>
              <a:rPr lang="en-US" sz="2400" dirty="0"/>
              <a:t> (first number): </a:t>
            </a:r>
            <a:r>
              <a:rPr lang="en-US" sz="2400" dirty="0">
                <a:solidFill>
                  <a:srgbClr val="FF0000"/>
                </a:solidFill>
              </a:rPr>
              <a:t>breaking change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Example: </a:t>
            </a:r>
            <a:r>
              <a:rPr lang="en-US" sz="2400" b="1" dirty="0"/>
              <a:t>2.5.13 → 3.0.0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Something changed that may </a:t>
            </a:r>
            <a:r>
              <a:rPr lang="en-US" sz="2400" b="1" dirty="0"/>
              <a:t>break existing users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Examples of breaking changes: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Renamed/removed functions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Changed function parameters or return types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Changed default behavior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Changed config format</a:t>
            </a:r>
          </a:p>
          <a:p>
            <a:pPr marL="342900" indent="-3429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50000"/>
              </a:lnSpc>
              <a:buSzPct val="100000"/>
            </a:pPr>
            <a:endParaRPr lang="en-US" sz="2400" dirty="0">
              <a:solidFill>
                <a:srgbClr val="111827"/>
              </a:solidFill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32128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B8EBC-D077-F06D-3458-51667874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B93F6C-1BC4-84AA-9E6E-B25B27989774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7EA6418-E3DE-26BF-63FB-D218393134D5}"/>
              </a:ext>
            </a:extLst>
          </p:cNvPr>
          <p:cNvSpPr/>
          <p:nvPr/>
        </p:nvSpPr>
        <p:spPr>
          <a:xfrm>
            <a:off x="502920" y="18022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 (why versions look like 1.2.3)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07BFE1F-EC91-F5D3-F112-095D317230C6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FF3D2CF-24D2-FCA4-9A3E-830F8CAD8C56}"/>
              </a:ext>
            </a:extLst>
          </p:cNvPr>
          <p:cNvSpPr/>
          <p:nvPr/>
        </p:nvSpPr>
        <p:spPr>
          <a:xfrm>
            <a:off x="502920" y="1097280"/>
            <a:ext cx="11185855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package.json:</a:t>
            </a:r>
            <a:endParaRPr lang="en-US" sz="2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^1.2.3 → allow compatible MINOR/PATCH updates (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4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~1.2.3 → allow PATCH updates only (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tilde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09817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427F86-D797-53C4-781F-58633250D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2C08EF-FD72-C4EF-947D-6C85A3E1D983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A78311-A04D-6B3D-F108-65789F780834}"/>
              </a:ext>
            </a:extLst>
          </p:cNvPr>
          <p:cNvSpPr/>
          <p:nvPr/>
        </p:nvSpPr>
        <p:spPr>
          <a:xfrm>
            <a:off x="502920" y="18022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 (why versions look like 1.2.3)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DC88973-131C-17B9-ADA0-039F0FF502CE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14514CE-A6E5-CCCF-2656-9F428181DE11}"/>
              </a:ext>
            </a:extLst>
          </p:cNvPr>
          <p:cNvSpPr/>
          <p:nvPr/>
        </p:nvSpPr>
        <p:spPr>
          <a:xfrm>
            <a:off x="502920" y="1097279"/>
            <a:ext cx="11185855" cy="55805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^1.2.3 (caret) = allow MINOR + PATCH updates (within same MAJOR)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Meaning: “Stay on major version </a:t>
            </a:r>
            <a:r>
              <a:rPr lang="en-US" sz="2400" b="1" dirty="0"/>
              <a:t>1</a:t>
            </a:r>
            <a:r>
              <a:rPr lang="en-US" sz="2400" dirty="0"/>
              <a:t>, but you can move forward on minor/patch.”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So </a:t>
            </a:r>
            <a:r>
              <a:rPr lang="en-US" sz="2400" dirty="0" err="1"/>
              <a:t>npm</a:t>
            </a:r>
            <a:r>
              <a:rPr lang="en-US" sz="2400" dirty="0"/>
              <a:t> can install anything in: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&gt;= 1.2.3 and &lt; 2.0.0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Examples allowed: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1.2.4 ✅ (patch)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1.3.0 ✅ (minor)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1.9.9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Examples NOT allowed: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2.0.0 ❌ (major bump)</a:t>
            </a:r>
          </a:p>
        </p:txBody>
      </p:sp>
    </p:spTree>
    <p:extLst>
      <p:ext uri="{BB962C8B-B14F-4D97-AF65-F5344CB8AC3E}">
        <p14:creationId xmlns:p14="http://schemas.microsoft.com/office/powerpoint/2010/main" val="2177734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D6506B-DC3D-F5F7-9D88-FFB885F4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ACFEC3-379A-2AB6-1CF1-34970B844BE3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EBF8CE-4E70-9E04-DD63-7BC47D98AAF6}"/>
              </a:ext>
            </a:extLst>
          </p:cNvPr>
          <p:cNvSpPr/>
          <p:nvPr/>
        </p:nvSpPr>
        <p:spPr>
          <a:xfrm>
            <a:off x="502920" y="18022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 (why versions look like 1.2.3)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A121CD-2A30-8AD9-40CC-50B2C89D7F07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647B13F-FA2A-B463-AC47-363B380A4484}"/>
              </a:ext>
            </a:extLst>
          </p:cNvPr>
          <p:cNvSpPr/>
          <p:nvPr/>
        </p:nvSpPr>
        <p:spPr>
          <a:xfrm>
            <a:off x="502920" y="1097279"/>
            <a:ext cx="11185855" cy="48685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~1.2.3 (tilde) = allow PATCH updates only (within same MINOR)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Meaning: “Stay on </a:t>
            </a:r>
            <a:r>
              <a:rPr lang="en-US" sz="2400" b="1" dirty="0"/>
              <a:t>1.2.x</a:t>
            </a:r>
            <a:r>
              <a:rPr lang="en-US" sz="2400" dirty="0"/>
              <a:t>, only take bug fixes.”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So </a:t>
            </a:r>
            <a:r>
              <a:rPr lang="en-US" sz="2400" dirty="0" err="1"/>
              <a:t>npm</a:t>
            </a:r>
            <a:r>
              <a:rPr lang="en-US" sz="2400" dirty="0"/>
              <a:t> can install anything in: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&gt;= 1.2.3 and &lt; 1.3.0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Examples allowed: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1.2.4 ✅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1.2.99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Examples NOT allowed: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1.3.0 ❌ (minor bump)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2.0.0 ❌</a:t>
            </a:r>
          </a:p>
        </p:txBody>
      </p:sp>
    </p:spTree>
    <p:extLst>
      <p:ext uri="{BB962C8B-B14F-4D97-AF65-F5344CB8AC3E}">
        <p14:creationId xmlns:p14="http://schemas.microsoft.com/office/powerpoint/2010/main" val="2077648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8A1B42-BE1A-D8F2-DC01-2829A28A9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3F47D8-106E-FDDB-C907-553B9BB30D43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26E76D-CCCE-725B-F9B2-8A197F07F3D8}"/>
              </a:ext>
            </a:extLst>
          </p:cNvPr>
          <p:cNvSpPr/>
          <p:nvPr/>
        </p:nvSpPr>
        <p:spPr>
          <a:xfrm>
            <a:off x="502920" y="18022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 (why versions look like 1.2.3)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FF10F61-E6C8-FFDC-D7C1-C10027B01D4B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B07CFE8-B091-E9A2-35E0-386F6600C924}"/>
              </a:ext>
            </a:extLst>
          </p:cNvPr>
          <p:cNvSpPr/>
          <p:nvPr/>
        </p:nvSpPr>
        <p:spPr>
          <a:xfrm>
            <a:off x="502920" y="908718"/>
            <a:ext cx="7957499" cy="59492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When you run </a:t>
            </a:r>
            <a:r>
              <a:rPr lang="en-US" sz="2400" i="1" dirty="0" err="1"/>
              <a:t>npm</a:t>
            </a:r>
            <a:r>
              <a:rPr lang="en-US" sz="2400" i="1" dirty="0"/>
              <a:t> install</a:t>
            </a:r>
            <a:r>
              <a:rPr lang="en-US" sz="2400" dirty="0"/>
              <a:t>, </a:t>
            </a:r>
            <a:r>
              <a:rPr lang="en-US" sz="2400" dirty="0" err="1"/>
              <a:t>npm</a:t>
            </a:r>
            <a:r>
              <a:rPr lang="en-US" sz="2400" dirty="0"/>
              <a:t> has to choose </a:t>
            </a:r>
            <a:r>
              <a:rPr lang="en-US" sz="2400" b="1" dirty="0"/>
              <a:t>one exact version</a:t>
            </a:r>
            <a:r>
              <a:rPr lang="en-US" sz="2400" dirty="0"/>
              <a:t> of some-lib to put into </a:t>
            </a:r>
            <a:r>
              <a:rPr lang="en-US" sz="2400" dirty="0" err="1"/>
              <a:t>node_modules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~1.2.3 means </a:t>
            </a:r>
            <a:r>
              <a:rPr lang="en-US" sz="2400" dirty="0" err="1"/>
              <a:t>npm</a:t>
            </a:r>
            <a:r>
              <a:rPr lang="en-US" sz="2400" dirty="0"/>
              <a:t> is allowed to pick </a:t>
            </a:r>
            <a:r>
              <a:rPr lang="en-US" sz="2400" b="1" dirty="0"/>
              <a:t>any published version</a:t>
            </a:r>
            <a:r>
              <a:rPr lang="en-US" sz="2400" dirty="0"/>
              <a:t> of some-lib that satisfies:</a:t>
            </a:r>
          </a:p>
          <a:p>
            <a:r>
              <a:rPr lang="en-US" sz="2400" b="1" dirty="0"/>
              <a:t>	&gt;= 1.2.3 and &lt; 1.3.0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So, if the registry has these versions:</a:t>
            </a:r>
          </a:p>
          <a:p>
            <a:r>
              <a:rPr lang="en-US" sz="2400" dirty="0"/>
              <a:t>	1.2.3 or 1.3.0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npm</a:t>
            </a:r>
            <a:r>
              <a:rPr lang="en-US" sz="2400" dirty="0"/>
              <a:t> will usually install the </a:t>
            </a:r>
            <a:r>
              <a:rPr lang="en-US" sz="2400" b="1" dirty="0"/>
              <a:t>latest matching one</a:t>
            </a:r>
            <a:r>
              <a:rPr lang="en-US" sz="2400" dirty="0"/>
              <a:t>, e.g. </a:t>
            </a:r>
            <a:r>
              <a:rPr lang="en-US" sz="2400" b="1" dirty="0"/>
              <a:t>1.2.9</a:t>
            </a:r>
            <a:r>
              <a:rPr lang="en-US" sz="2400" dirty="0"/>
              <a:t>, because it’s: ≥ 1.2.3 ✅ and &lt; 1.3.0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But it will </a:t>
            </a:r>
            <a:r>
              <a:rPr lang="en-US" sz="2400" b="1" dirty="0"/>
              <a:t>not</a:t>
            </a:r>
            <a:r>
              <a:rPr lang="en-US" sz="2400" dirty="0"/>
              <a:t> install 1.3.0 because that crosses into the next MINOR.</a:t>
            </a:r>
          </a:p>
          <a:p>
            <a:endParaRPr lang="en-US" sz="2400" i="1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08590FEB-657A-E6E8-5293-D55EFFD33B0A}"/>
              </a:ext>
            </a:extLst>
          </p:cNvPr>
          <p:cNvSpPr/>
          <p:nvPr/>
        </p:nvSpPr>
        <p:spPr>
          <a:xfrm>
            <a:off x="8604002" y="930028"/>
            <a:ext cx="3496253" cy="2596674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"dependencies": {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"some-lib": "~1.2.3"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998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2464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 CommonJS vs ES Modules (ESM)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5455768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33008" y="1097280"/>
            <a:ext cx="5455768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499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CommonJS (older, still common)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61607" y="1234440"/>
            <a:ext cx="545576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Modules / ESM (modern JS standard)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5181448" cy="45262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math.cjs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add(a, b) {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{ add };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 it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add } = require('./math.cjs');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console.log(add(2, 3));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70168" y="1645920"/>
            <a:ext cx="5181448" cy="45262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math.mjs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add(a, b) {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 it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add } from './math.mjs';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console.log(add(2, 3));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19" y="210312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ESM in a project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19566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Use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.mjs 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extension for ESM files.</a:t>
            </a:r>
            <a:endParaRPr lang="en-US" sz="2400" dirty="0"/>
          </a:p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Add "type": "module" to package.json (then .js is treated as ESM).</a:t>
            </a:r>
            <a:endParaRPr lang="en-US" sz="2400" dirty="0"/>
          </a:p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consistent inside one repo to avoid confusion.</a:t>
            </a:r>
            <a:endParaRPr lang="en-US" sz="2400" b="1" dirty="0"/>
          </a:p>
        </p:txBody>
      </p:sp>
      <p:sp>
        <p:nvSpPr>
          <p:cNvPr id="7" name="Text 5"/>
          <p:cNvSpPr/>
          <p:nvPr/>
        </p:nvSpPr>
        <p:spPr>
          <a:xfrm>
            <a:off x="502919" y="3429000"/>
            <a:ext cx="11185855" cy="1578006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package.json (snippet)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"module"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5D0982-34F2-32AE-8D1B-1C659BD46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7ABB91-D834-50A1-F32D-0E487FBCA654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EFE1BB-643A-F8F6-F350-96174BD36BA3}"/>
              </a:ext>
            </a:extLst>
          </p:cNvPr>
          <p:cNvSpPr/>
          <p:nvPr/>
        </p:nvSpPr>
        <p:spPr>
          <a:xfrm>
            <a:off x="502919" y="210312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CJS in a project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AA2960-B2C9-2D89-36A6-F6C5A6674FFE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B1433C9-EC86-8242-7DCE-03C3E5B1FB7C}"/>
              </a:ext>
            </a:extLst>
          </p:cNvPr>
          <p:cNvSpPr/>
          <p:nvPr/>
        </p:nvSpPr>
        <p:spPr>
          <a:xfrm>
            <a:off x="502920" y="1097280"/>
            <a:ext cx="11185855" cy="19566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Use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24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cjs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extension for ESM files.</a:t>
            </a:r>
            <a:endParaRPr lang="en-US" sz="2400" dirty="0"/>
          </a:p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Add "type": ”</a:t>
            </a:r>
            <a:r>
              <a:rPr lang="en-US" sz="2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commonjs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to package.json (then .js is treated as CJS).</a:t>
            </a:r>
            <a:endParaRPr lang="en-US" sz="2400" dirty="0"/>
          </a:p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consistent inside one repo to avoid confusion.</a:t>
            </a:r>
            <a:endParaRPr lang="en-US" sz="2400" b="1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8F6D6F4-E3D0-F018-8859-4C1DA85BEA51}"/>
              </a:ext>
            </a:extLst>
          </p:cNvPr>
          <p:cNvSpPr/>
          <p:nvPr/>
        </p:nvSpPr>
        <p:spPr>
          <a:xfrm>
            <a:off x="502919" y="3429000"/>
            <a:ext cx="11185855" cy="1578006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package.json (snippet)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”</a:t>
            </a:r>
            <a:r>
              <a:rPr lang="en-US" sz="20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commonjs</a:t>
            </a: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74628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49652" y="14470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core modules (built-in, no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install needed)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node:fs → file system</a:t>
            </a:r>
            <a:endParaRPr lang="en-US" sz="24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node:path → path utilities (cross-platform)</a:t>
            </a:r>
            <a:endParaRPr lang="en-US" sz="24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node:http → HTTP server/client</a:t>
            </a:r>
            <a:endParaRPr lang="en-US" sz="24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node:os → OS info</a:t>
            </a:r>
            <a:endParaRPr lang="en-US" sz="24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node:process → env, args, exit codes</a:t>
            </a:r>
            <a:endParaRPr lang="en-US" sz="24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node:crypto → hashing, encryption (later)</a:t>
            </a:r>
            <a:endParaRPr lang="en-US" sz="24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node:stream → streaming I/O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Process + Paths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Arguments, environment variables, and file locations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19" y="210312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arguments: process.argv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85855" cy="276148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args.js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console.log(process.argv);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Example: node args.js hello 123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argv[0] = node executable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argv[1] = script path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argv[2...] = your arguments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4434839"/>
            <a:ext cx="11185855" cy="1672997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args.js hello 123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variables: process.env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16192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are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(always).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examples: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DATABASE_URL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NODE_ENV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secrets to Git. Use .env locally, real env vars in production.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2849732"/>
            <a:ext cx="11185855" cy="350534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env.js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(env vars are strings)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port =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process.env.PORT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"3000";                 // server port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process.env.DATABASE_URL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"(missing)";      // DB connection string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env =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process.env.NODE_ENV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"development";       //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dev|production|test</a:t>
            </a:r>
            <a:endParaRPr lang="en-US" sz="16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key =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process.env.API_KEY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"(set)" : "(missing)"; // secret token</a:t>
            </a: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port,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env, key });                     // prints values</a:t>
            </a: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isProd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?", env === "production");            // toggle behavior</a:t>
            </a: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("PORT type:",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port);                  // always "string"</a:t>
            </a: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("PORT number:", Number(port));               // convert if needed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DD295D-C5E3-8DF8-92F0-11FB273F9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E3351B-2729-3869-E43C-E83980E1DE2C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D3FE2D-E6F7-7B3A-1A11-2CDD22D9E2BF}"/>
              </a:ext>
            </a:extLst>
          </p:cNvPr>
          <p:cNvSpPr/>
          <p:nvPr/>
        </p:nvSpPr>
        <p:spPr>
          <a:xfrm>
            <a:off x="502920" y="173736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variables: process.env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5E89A8-452E-D483-B14A-6F9D7D97F702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852FF2-EDBD-51EA-1F04-01DCB022B7A0}"/>
              </a:ext>
            </a:extLst>
          </p:cNvPr>
          <p:cNvSpPr/>
          <p:nvPr/>
        </p:nvSpPr>
        <p:spPr>
          <a:xfrm>
            <a:off x="502920" y="894969"/>
            <a:ext cx="11185855" cy="2534031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env.js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(env vars are strings)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port =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process.env.PORT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"3000";                 // server port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process.env.DATABASE_URL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"(missing)";      // DB connection string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env =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process.env.NODE_ENV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"development";       //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dev|production|test</a:t>
            </a:r>
            <a:endParaRPr lang="en-US" sz="16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key =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process.env.API_KEY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"(set)" : "(missing)"; // secret token</a:t>
            </a: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port,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env, key });                     // prints values</a:t>
            </a: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isProd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?", env === "production");            // toggle behavior</a:t>
            </a: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("PORT type:",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port);                  // always "string"</a:t>
            </a: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("PORT number:", Number(port));               // convert if needed</a:t>
            </a:r>
            <a:endParaRPr lang="en-US" sz="16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6E573AFD-322E-4D27-2EEE-0C659A272B90}"/>
              </a:ext>
            </a:extLst>
          </p:cNvPr>
          <p:cNvSpPr/>
          <p:nvPr/>
        </p:nvSpPr>
        <p:spPr>
          <a:xfrm>
            <a:off x="502920" y="3622284"/>
            <a:ext cx="4722224" cy="30071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  <a:buSzPct val="100000"/>
            </a:pPr>
            <a:r>
              <a:rPr lang="en-US" sz="2400" dirty="0">
                <a:cs typeface="Courier New" panose="02070309020205020404" pitchFamily="49" charset="0"/>
              </a:rPr>
              <a:t>macOS/Linux: </a:t>
            </a:r>
          </a:p>
          <a:p>
            <a:pPr>
              <a:lnSpc>
                <a:spcPct val="110000"/>
              </a:lnSpc>
              <a:buSzPct val="100000"/>
            </a:pPr>
            <a:endParaRPr lang="en-US" sz="16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  <a:buSzPct val="100000"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PORT=4000 NODE_ENV=development DATABASE_URL="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postgres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://user:pass@localhost:5432/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mydb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API_KEY="abc123" node 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env.js</a:t>
            </a:r>
            <a:endParaRPr lang="en-US" sz="16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82E7DDA-767A-E2E0-0BBC-7B08DE189E13}"/>
              </a:ext>
            </a:extLst>
          </p:cNvPr>
          <p:cNvSpPr/>
          <p:nvPr/>
        </p:nvSpPr>
        <p:spPr>
          <a:xfrm>
            <a:off x="6216364" y="3677148"/>
            <a:ext cx="4722224" cy="21638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  <a:buSzPct val="100000"/>
            </a:pPr>
            <a:r>
              <a:rPr lang="en-US" sz="2400" dirty="0">
                <a:cs typeface="Courier New" panose="02070309020205020404" pitchFamily="49" charset="0"/>
              </a:rPr>
              <a:t>Windows: </a:t>
            </a:r>
          </a:p>
          <a:p>
            <a:pPr>
              <a:lnSpc>
                <a:spcPct val="110000"/>
              </a:lnSpc>
              <a:buSzPct val="100000"/>
            </a:pPr>
            <a:endParaRPr lang="en-US" sz="16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  <a:buSzPct val="100000"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env:PORT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="4000"</a:t>
            </a:r>
          </a:p>
          <a:p>
            <a:pPr>
              <a:lnSpc>
                <a:spcPct val="110000"/>
              </a:lnSpc>
              <a:buSzPct val="100000"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env:NODE_ENV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="development"</a:t>
            </a:r>
          </a:p>
          <a:p>
            <a:pPr>
              <a:lnSpc>
                <a:spcPct val="110000"/>
              </a:lnSpc>
              <a:buSzPct val="100000"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env:DATABASE_URL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postgres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://user:pass@localhost:5432/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mydb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>
              <a:lnSpc>
                <a:spcPct val="110000"/>
              </a:lnSpc>
              <a:buSzPct val="100000"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env:API_KEY</a:t>
            </a: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="abc123"</a:t>
            </a:r>
          </a:p>
          <a:p>
            <a:pPr>
              <a:lnSpc>
                <a:spcPct val="110000"/>
              </a:lnSpc>
              <a:buSzPct val="100000"/>
            </a:pPr>
            <a:r>
              <a:rPr lang="en-US" sz="1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 </a:t>
            </a:r>
            <a:r>
              <a:rPr lang="en-US" sz="16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env.js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887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Paths: avoid string concatenation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node:path for portability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uses \ while macOS/Linux uses /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path.join() builds correct paths for the OS</a:t>
            </a:r>
            <a:endParaRPr lang="en-US" sz="20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__dirname (CommonJS) or import.meta.url (ESM) helps locate files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11185855" cy="35661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CommonJS example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path = require('node:path');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console.log(path.join('data', 'users.json'));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ESM example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path from 'node:path';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fileURLToPath } from 'node:url';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__filename = fileURLToPath(import.meta.url);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__dirname = path.dirname(__filename);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console.log(__dirname);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Async + Event Loop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mental model for Node servers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loop (high-level)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Node can handle many connections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9653" y="1234440"/>
            <a:ext cx="320040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 execution)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69080" y="1234440"/>
            <a:ext cx="3566160" cy="914400"/>
          </a:xfrm>
          <a:prstGeom prst="roundRect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(schedules callbacks)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0" y="1234440"/>
            <a:ext cx="3474720" cy="91440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I/O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(OS, network, fs)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525291" y="1404257"/>
            <a:ext cx="525875" cy="27432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81147" y="1376262"/>
            <a:ext cx="530352" cy="27432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53154" y="1742022"/>
            <a:ext cx="530352" cy="274320"/>
          </a:xfrm>
          <a:prstGeom prst="lef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87967" y="1770017"/>
            <a:ext cx="525875" cy="274320"/>
          </a:xfrm>
          <a:prstGeom prst="lef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69080" y="22677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/ promises resolved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1118585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runs your JS on a single main thread (call stack).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operations (disk, network) happen asynchronously via the OS.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I/O completes, callbacks/promises are queued and run later.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block the call stack, everything waits (requests stall).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vs non-blocking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 in a server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example (bad):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5366035" cy="27432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bad-blocking-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file.js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CommonJS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fs = require("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node:fs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");</a:t>
            </a:r>
          </a:p>
          <a:p>
            <a:endParaRPr lang="en-US" sz="16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data =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fs.readFileSync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data.json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"utf8"); // blocks event loop</a:t>
            </a:r>
          </a:p>
          <a:p>
            <a:endParaRPr lang="en-US" sz="16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("bytes:",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data.length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0058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idea (better):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1325880"/>
            <a:ext cx="5577840" cy="27432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good-nonblocking-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file.js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CommonJS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fs = require("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node:fs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/promises");</a:t>
            </a:r>
          </a:p>
          <a:p>
            <a:endParaRPr lang="en-US" sz="16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fs.readFile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data.json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"utf8").then((data) =&gt; {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("bytes:",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data.length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78E44D-D6E8-AC0F-011B-795C8B0AF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9C2094-9AB3-4F3B-DD85-FD9E46E98B86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1DC806-B004-12DD-59C2-BD954A2EC8C0}"/>
              </a:ext>
            </a:extLst>
          </p:cNvPr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vs non-blocking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13090C-088B-D722-A73F-BD5C59C35137}"/>
              </a:ext>
            </a:extLst>
          </p:cNvPr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 in a server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AD8AED-7491-AB69-E18B-95A6E94D44F7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EDB72CD-BE3F-5FFC-4B95-9F339982A25A}"/>
              </a:ext>
            </a:extLst>
          </p:cNvPr>
          <p:cNvSpPr/>
          <p:nvPr/>
        </p:nvSpPr>
        <p:spPr>
          <a:xfrm>
            <a:off x="502920" y="10058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example (bad):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49B0826-3DC6-C604-318D-2F47D063DC51}"/>
              </a:ext>
            </a:extLst>
          </p:cNvPr>
          <p:cNvSpPr/>
          <p:nvPr/>
        </p:nvSpPr>
        <p:spPr>
          <a:xfrm>
            <a:off x="502920" y="1325880"/>
            <a:ext cx="5496664" cy="27432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bad-blocking-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sleep.js</a:t>
            </a:r>
            <a:endParaRPr lang="en-US" sz="16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end =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Date.now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+ 2000;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Date.now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&lt; end) {} // blocks everything for 2s</a:t>
            </a: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("done");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9A841AF-D8CD-2001-A440-5312DF94E17A}"/>
              </a:ext>
            </a:extLst>
          </p:cNvPr>
          <p:cNvSpPr/>
          <p:nvPr/>
        </p:nvSpPr>
        <p:spPr>
          <a:xfrm>
            <a:off x="6400800" y="10058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idea (better):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4AFBB33-B842-1380-F72D-D5ED4BAEFD90}"/>
              </a:ext>
            </a:extLst>
          </p:cNvPr>
          <p:cNvSpPr/>
          <p:nvPr/>
        </p:nvSpPr>
        <p:spPr>
          <a:xfrm>
            <a:off x="6400800" y="1325880"/>
            <a:ext cx="5577840" cy="27432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good-nonblocking-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sleep.js</a:t>
            </a:r>
            <a:endParaRPr lang="en-US" sz="16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("done"), 2000); // doesn't block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5EAC350-268B-6CF1-0F84-52348EB6F8E8}"/>
              </a:ext>
            </a:extLst>
          </p:cNvPr>
          <p:cNvSpPr/>
          <p:nvPr/>
        </p:nvSpPr>
        <p:spPr>
          <a:xfrm>
            <a:off x="494522" y="4946904"/>
            <a:ext cx="11185855" cy="44619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F59E0B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t"/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both “wait 2 seconds”; one freezes the process, the other schedules work and keeps the event loop free.</a:t>
            </a:r>
          </a:p>
          <a:p>
            <a:pPr algn="ctr"/>
            <a:endParaRPr lang="en-US" sz="2000" dirty="0">
              <a:solidFill>
                <a:srgbClr val="FF0000"/>
              </a:solidFill>
            </a:endParaRPr>
          </a:p>
          <a:p>
            <a:pPr algn="ctr"/>
            <a:endParaRPr lang="en-US" sz="2000" dirty="0">
              <a:solidFill>
                <a:srgbClr val="FF0000"/>
              </a:solidFill>
            </a:endParaRPr>
          </a:p>
          <a:p>
            <a:pPr algn="ctr"/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3310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8095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pattern #1: callbacks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callback is a function passed to run later when work finishes.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legacy APIs use “error-first callbacks”: (err, result) =&gt; { ... }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Downside: nested callbacks can become hard to read (“callback hell”).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2883159"/>
            <a:ext cx="11185855" cy="3609081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error-first callback example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fs from 'node:fs';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fs.readFile('notes.txt', 'utf8', (err, data) =&gt;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console.error('read failed', err);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console.log(data);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608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pattern #2: Promises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148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represents a future value: pending → fulfilled or rejected.</a:t>
            </a:r>
            <a:endParaRPr lang="en-US" sz="2400" b="1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chain: .then(...) and .catch(...)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compose well: Promise.all, Promise.race, etc.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865430"/>
            <a:ext cx="11185855" cy="3219061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readFile } from 'node:fs/promises';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readFile('notes.txt', 'utf8')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.then((data) =&gt;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console.log(data);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.catch((err) =&gt;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console.error('read failed', err);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async work: Promise.all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multiple I/O calls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11185855" cy="2926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userP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fetch("/user/123").then(r =&gt;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r.json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postsP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fetch("/user/123/posts").then(r =&gt;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r.json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</a:p>
          <a:p>
            <a:endParaRPr lang="en-US" sz="16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[user, posts] = await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Promise.all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userP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postsP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754880"/>
            <a:ext cx="11185855" cy="9927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 fails fast: if one rejects, the whole thing rejects.</a:t>
            </a:r>
            <a:endParaRPr lang="en-US" sz="2400" dirty="0"/>
          </a:p>
          <a:p>
            <a:pPr marL="205740" indent="-20574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independent I/O (fetch multiple resources, read multiple files).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4DB933-4129-1EFC-AEB6-C6CBFBE8D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CFC2EE-3BCE-FD33-91F4-E1D03D3A8808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2915DE-0984-4281-C4BF-D41478E20EBB}"/>
              </a:ext>
            </a:extLst>
          </p:cNvPr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async work: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Promise.race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F7815B-E187-7689-D79C-6241B1D06701}"/>
              </a:ext>
            </a:extLst>
          </p:cNvPr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multiple I/O calls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DDFB611-5B6F-EDE8-ACEA-60709CD999B7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3A917F3-6E62-785D-CDA9-B2E16A9DBEF6}"/>
              </a:ext>
            </a:extLst>
          </p:cNvPr>
          <p:cNvSpPr/>
          <p:nvPr/>
        </p:nvSpPr>
        <p:spPr>
          <a:xfrm>
            <a:off x="502920" y="1554480"/>
            <a:ext cx="11185855" cy="2926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slow = fetch("/data");</a:t>
            </a:r>
          </a:p>
          <a:p>
            <a:endParaRPr lang="en-US" sz="16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timeout = new Promise((_, reject) =&gt;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reject(new Error("Timed out")), 2000)</a:t>
            </a: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</a:p>
          <a:p>
            <a:endParaRPr lang="en-US" sz="16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 = await </a:t>
            </a:r>
            <a:r>
              <a:rPr lang="en-US" sz="16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Promise.race</a:t>
            </a: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([slow, timeout]);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D9A6228-2053-DE15-A58E-209995524A42}"/>
              </a:ext>
            </a:extLst>
          </p:cNvPr>
          <p:cNvSpPr/>
          <p:nvPr/>
        </p:nvSpPr>
        <p:spPr>
          <a:xfrm>
            <a:off x="502920" y="4754880"/>
            <a:ext cx="11185855" cy="9927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lnSpc>
                <a:spcPct val="110000"/>
              </a:lnSpc>
              <a:buSzPct val="100000"/>
              <a:buChar char="•"/>
            </a:pPr>
            <a:r>
              <a:rPr lang="en-US" sz="2400" dirty="0"/>
              <a:t>Use for </a:t>
            </a:r>
            <a:r>
              <a:rPr lang="en-US" sz="2400" b="1" dirty="0"/>
              <a:t>timeouts</a:t>
            </a:r>
            <a:r>
              <a:rPr lang="en-US" sz="2400" dirty="0"/>
              <a:t> or “take the fastest result”.</a:t>
            </a:r>
          </a:p>
          <a:p>
            <a:pPr marL="205740" indent="-205740">
              <a:lnSpc>
                <a:spcPct val="110000"/>
              </a:lnSpc>
              <a:buSzPct val="100000"/>
              <a:buChar char="•"/>
            </a:pPr>
            <a:r>
              <a:rPr lang="en-US" sz="2400" dirty="0"/>
              <a:t>Settles with the </a:t>
            </a:r>
            <a:r>
              <a:rPr lang="en-US" sz="2400" b="1" dirty="0"/>
              <a:t>first promise to settle</a:t>
            </a:r>
            <a:r>
              <a:rPr lang="en-US" sz="2400" dirty="0"/>
              <a:t> (resolve </a:t>
            </a:r>
            <a:r>
              <a:rPr lang="en-US" sz="2400" i="1" dirty="0"/>
              <a:t>or</a:t>
            </a:r>
            <a:r>
              <a:rPr lang="en-US" sz="2400" dirty="0"/>
              <a:t> reject)</a:t>
            </a:r>
          </a:p>
        </p:txBody>
      </p:sp>
    </p:spTree>
    <p:extLst>
      <p:ext uri="{BB962C8B-B14F-4D97-AF65-F5344CB8AC3E}">
        <p14:creationId xmlns:p14="http://schemas.microsoft.com/office/powerpoint/2010/main" val="23422426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6265" y="18475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pattern #3: async/await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32688"/>
            <a:ext cx="11185855" cy="15096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functions always return a Promise.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pauses inside the async function until the Promise resolves.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try/catch for errors.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789853"/>
            <a:ext cx="11185855" cy="3656667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readFile } from 'node:fs/promises';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main()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data = await readFile('notes.txt', 'utf8');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console.log(data);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console.error('read failed', err);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main();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3306</TotalTime>
  <Words>2492</Words>
  <Application>Microsoft Macintosh PowerPoint</Application>
  <PresentationFormat>Widescreen</PresentationFormat>
  <Paragraphs>387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Islam, Md Touhidul</cp:lastModifiedBy>
  <cp:revision>27</cp:revision>
  <dcterms:created xsi:type="dcterms:W3CDTF">2026-02-20T03:07:52Z</dcterms:created>
  <dcterms:modified xsi:type="dcterms:W3CDTF">2026-02-25T08:38:21Z</dcterms:modified>
</cp:coreProperties>
</file>